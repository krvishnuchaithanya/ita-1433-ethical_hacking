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1245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My presentation analyzes one ethics scenario: a security researcher who finds a critical flaw but exposes it publicly instead of reporting it properly. I will explain the concepts, what went wrong, and what the researcher should have done.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Cybersecurity ethics means using security skills responsibly: protecting others, respecting permission and avoiding harm. Security researchers are experts who find weaknesses so organizations can fix them before criminals find them. Finding a vulnerability is not wrong by itself. A good researcher finds weaknesses, informs the organization, helps improve security, protects users, follows ethical guidelines and respects disclosure policies. Above all, researchers must minimize harm. So the key point is that finding a flaw can be ethical, but how it is handled matters.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scenario. A freelance security researcher, meaning an independent expert who is not an employee, finds a critical flaw in a major company's systems. The company had an official way to report problems, either a bug-bounty program or a responsible-disclosure policy. The researcher should have used it. Instead, the researcher posted the flaw publicly on X to pressure the company into paying, which gave the company no chance to fix the problem first.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vulnerability is a weakness or mistake in software or settings that someone could misuse. It is critical when it is easy to misuse, affects many users or exposes sensitive data. Until it is fixed, anyone who learns about it can take advantage of it. On the right are the consequences if it is made public before a fix: attackers learn about it, systems become targets, user information could be exposed, services could be disrupted, and the company can suffer financial loss and damaged reputation. No technical details are given here on purpose.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Vulnerability disclosure means telling the right people about a flaw so it can be fixed. It is needed because owners cannot fix problems they do not know about. The flow on the left is the ideal order: discover, verify, report, investigate, fix, and only then disclose publicly. There are three styles: private reporting, coordinated disclosure where both sides agree on timing, and public disclosure, which is safest after a fix. A bug-bounty program is an official offer from a company to receive reports and reward researchers. Companies run them to get expert help, researchers report through the official page, and rewards or recognition depend on the program terms. Following the rules matters because they define what may be tested.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go through the researcher's actions in order. Discovery was fine, but a critical flaw means many users could be affected. A safe reporting channel existed, so no shortcut was needed. By skipping it, the company never got a chance to investigate or fix the flaw. Going public meant attackers could learn about it while users were still unprotected. Finally, tying payment to public risk is pressure, not ethical research, and it may have legal consequences.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ethical issues. The disclosure was irresponsible because the owner was not warned. Users could be harmed, attackers could act first, payment was demanded under threat of exposure, the company's process was ignored, public safety was not considered, and professional responsibility was not shown. On the right are the principles that were broken: authorization, responsibility, confidentiality, non-maleficence, integrity and public safety. The idea that ties everything together is that security research should minimize harm.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compares the two approaches. Responsible disclosure means private reporting, following bug-bounty rules, communicating with the organization, allowing time to fix, prioritizing user safety and coordinating public disclosure. Irresponsible disclosure is the opposite: immediate public exposure, ignoring procedures, pressuring for payment, increasing risk, putting personal benefit first and ignoring the impact on users. Below are the eight steps the researcher should have followed. This is ethical because it protects users first, respects the company's process and still lets the researcher be credited or rewarded.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finding a vulnerability can be legitimate research and the flaw itself was not the problem. Responsible disclosure, meaning private reporting and time to fix, is the core of ethical practice. Exposing a critical flaw publicly to pressure a company for payment can be unethical because it puts users at risk. Researchers should always use established channels, and the goal must be to improve security and protect users. Read the final statement, then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22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4754880"/>
            <a:ext cx="548640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Cybersecurity Ethics  |  Irresponsible Vulnerability Disclosure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3.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7.png"/><Relationship Id="rId7" Type="http://schemas.openxmlformats.org/officeDocument/2006/relationships/image" Target="../media/image21.png"/><Relationship Id="rId12"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png"/><Relationship Id="rId11" Type="http://schemas.openxmlformats.org/officeDocument/2006/relationships/image" Target="../media/image30.png"/><Relationship Id="rId5" Type="http://schemas.openxmlformats.org/officeDocument/2006/relationships/image" Target="../media/image26.png"/><Relationship Id="rId15" Type="http://schemas.openxmlformats.org/officeDocument/2006/relationships/image" Target="../media/image1.png"/><Relationship Id="rId10" Type="http://schemas.openxmlformats.org/officeDocument/2006/relationships/image" Target="../media/image29.png"/><Relationship Id="rId4" Type="http://schemas.openxmlformats.org/officeDocument/2006/relationships/image" Target="../media/image25.png"/><Relationship Id="rId9" Type="http://schemas.openxmlformats.org/officeDocument/2006/relationships/image" Target="../media/image28.png"/><Relationship Id="rId1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image" Target="../media/image11.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852160" y="1097280"/>
            <a:ext cx="2926080" cy="2926080"/>
          </a:xfrm>
          <a:prstGeom prst="ellipse">
            <a:avLst/>
          </a:prstGeom>
          <a:ln w="19050">
            <a:solidFill>
              <a:srgbClr val="1F3150"/>
            </a:solidFill>
            <a:prstDash val="solid"/>
          </a:ln>
        </p:spPr>
      </p:sp>
      <p:sp>
        <p:nvSpPr>
          <p:cNvPr id="3" name="Shape 1"/>
          <p:cNvSpPr/>
          <p:nvPr/>
        </p:nvSpPr>
        <p:spPr>
          <a:xfrm>
            <a:off x="6400800" y="1645920"/>
            <a:ext cx="1828800" cy="1828800"/>
          </a:xfrm>
          <a:prstGeom prst="ellipse">
            <a:avLst/>
          </a:prstGeom>
          <a:solidFill>
            <a:srgbClr val="0F2A3A"/>
          </a:solidFill>
          <a:ln w="25400">
            <a:solidFill>
              <a:srgbClr val="22D3EE"/>
            </a:solidFill>
            <a:prstDash val="solid"/>
          </a:ln>
        </p:spPr>
      </p:sp>
      <p:pic>
        <p:nvPicPr>
          <p:cNvPr id="4" name="Image 0" descr="preencoded.png"/>
          <p:cNvPicPr>
            <a:picLocks noChangeAspect="1"/>
          </p:cNvPicPr>
          <p:nvPr/>
        </p:nvPicPr>
        <p:blipFill>
          <a:blip r:embed="rId3"/>
          <a:stretch>
            <a:fillRect/>
          </a:stretch>
        </p:blipFill>
        <p:spPr>
          <a:xfrm>
            <a:off x="6858000" y="2103120"/>
            <a:ext cx="914400" cy="914400"/>
          </a:xfrm>
          <a:prstGeom prst="rect">
            <a:avLst/>
          </a:prstGeom>
        </p:spPr>
      </p:pic>
      <p:sp>
        <p:nvSpPr>
          <p:cNvPr id="5" name="Shape 2"/>
          <p:cNvSpPr/>
          <p:nvPr/>
        </p:nvSpPr>
        <p:spPr>
          <a:xfrm>
            <a:off x="7040880" y="822960"/>
            <a:ext cx="548640" cy="548640"/>
          </a:xfrm>
          <a:prstGeom prst="ellipse">
            <a:avLst/>
          </a:prstGeom>
          <a:solidFill>
            <a:srgbClr val="121C30"/>
          </a:solidFill>
          <a:ln w="12700">
            <a:solidFill>
              <a:srgbClr val="F87171"/>
            </a:solidFill>
            <a:prstDash val="solid"/>
          </a:ln>
        </p:spPr>
      </p:sp>
      <p:pic>
        <p:nvPicPr>
          <p:cNvPr id="6" name="Image 1" descr="preencoded.png"/>
          <p:cNvPicPr>
            <a:picLocks noChangeAspect="1"/>
          </p:cNvPicPr>
          <p:nvPr/>
        </p:nvPicPr>
        <p:blipFill>
          <a:blip r:embed="rId4"/>
          <a:stretch>
            <a:fillRect/>
          </a:stretch>
        </p:blipFill>
        <p:spPr>
          <a:xfrm>
            <a:off x="7172554" y="954634"/>
            <a:ext cx="285293" cy="285293"/>
          </a:xfrm>
          <a:prstGeom prst="rect">
            <a:avLst/>
          </a:prstGeom>
        </p:spPr>
      </p:pic>
      <p:sp>
        <p:nvSpPr>
          <p:cNvPr id="7" name="Shape 3"/>
          <p:cNvSpPr/>
          <p:nvPr/>
        </p:nvSpPr>
        <p:spPr>
          <a:xfrm>
            <a:off x="8503920" y="2286000"/>
            <a:ext cx="548640" cy="548640"/>
          </a:xfrm>
          <a:prstGeom prst="ellipse">
            <a:avLst/>
          </a:prstGeom>
          <a:solidFill>
            <a:srgbClr val="121C30"/>
          </a:solidFill>
          <a:ln w="12700">
            <a:solidFill>
              <a:srgbClr val="FBBF24"/>
            </a:solidFill>
            <a:prstDash val="solid"/>
          </a:ln>
        </p:spPr>
      </p:sp>
      <p:pic>
        <p:nvPicPr>
          <p:cNvPr id="8" name="Image 2" descr="preencoded.png"/>
          <p:cNvPicPr>
            <a:picLocks noChangeAspect="1"/>
          </p:cNvPicPr>
          <p:nvPr/>
        </p:nvPicPr>
        <p:blipFill>
          <a:blip r:embed="rId5"/>
          <a:stretch>
            <a:fillRect/>
          </a:stretch>
        </p:blipFill>
        <p:spPr>
          <a:xfrm>
            <a:off x="8635594" y="2417674"/>
            <a:ext cx="285293" cy="285293"/>
          </a:xfrm>
          <a:prstGeom prst="rect">
            <a:avLst/>
          </a:prstGeom>
        </p:spPr>
      </p:pic>
      <p:sp>
        <p:nvSpPr>
          <p:cNvPr id="9" name="Shape 4"/>
          <p:cNvSpPr/>
          <p:nvPr/>
        </p:nvSpPr>
        <p:spPr>
          <a:xfrm>
            <a:off x="7040880" y="3749040"/>
            <a:ext cx="548640" cy="548640"/>
          </a:xfrm>
          <a:prstGeom prst="ellipse">
            <a:avLst/>
          </a:prstGeom>
          <a:solidFill>
            <a:srgbClr val="121C30"/>
          </a:solidFill>
          <a:ln w="12700">
            <a:solidFill>
              <a:srgbClr val="22D3EE"/>
            </a:solidFill>
            <a:prstDash val="solid"/>
          </a:ln>
        </p:spPr>
      </p:sp>
      <p:pic>
        <p:nvPicPr>
          <p:cNvPr id="10" name="Image 3" descr="preencoded.png"/>
          <p:cNvPicPr>
            <a:picLocks noChangeAspect="1"/>
          </p:cNvPicPr>
          <p:nvPr/>
        </p:nvPicPr>
        <p:blipFill>
          <a:blip r:embed="rId6"/>
          <a:stretch>
            <a:fillRect/>
          </a:stretch>
        </p:blipFill>
        <p:spPr>
          <a:xfrm>
            <a:off x="7172554" y="3880714"/>
            <a:ext cx="285293" cy="285293"/>
          </a:xfrm>
          <a:prstGeom prst="rect">
            <a:avLst/>
          </a:prstGeom>
        </p:spPr>
      </p:pic>
      <p:sp>
        <p:nvSpPr>
          <p:cNvPr id="11" name="Shape 5"/>
          <p:cNvSpPr/>
          <p:nvPr/>
        </p:nvSpPr>
        <p:spPr>
          <a:xfrm>
            <a:off x="5577840" y="2286000"/>
            <a:ext cx="548640" cy="548640"/>
          </a:xfrm>
          <a:prstGeom prst="ellipse">
            <a:avLst/>
          </a:prstGeom>
          <a:solidFill>
            <a:srgbClr val="121C30"/>
          </a:solidFill>
          <a:ln w="12700">
            <a:solidFill>
              <a:srgbClr val="22D3EE"/>
            </a:solidFill>
            <a:prstDash val="solid"/>
          </a:ln>
        </p:spPr>
      </p:sp>
      <p:pic>
        <p:nvPicPr>
          <p:cNvPr id="12" name="Image 4" descr="preencoded.png"/>
          <p:cNvPicPr>
            <a:picLocks noChangeAspect="1"/>
          </p:cNvPicPr>
          <p:nvPr/>
        </p:nvPicPr>
        <p:blipFill>
          <a:blip r:embed="rId7"/>
          <a:stretch>
            <a:fillRect/>
          </a:stretch>
        </p:blipFill>
        <p:spPr>
          <a:xfrm>
            <a:off x="5709514" y="2417674"/>
            <a:ext cx="285293" cy="285293"/>
          </a:xfrm>
          <a:prstGeom prst="rect">
            <a:avLst/>
          </a:prstGeom>
        </p:spPr>
      </p:pic>
      <p:sp>
        <p:nvSpPr>
          <p:cNvPr id="13" name="Text 6"/>
          <p:cNvSpPr txBox="1"/>
          <p:nvPr/>
        </p:nvSpPr>
        <p:spPr>
          <a:xfrm>
            <a:off x="640080" y="640080"/>
            <a:ext cx="4663440" cy="1828800"/>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Cybersecurity Ethics: Irresponsible Vulnerability Disclosure</a:t>
            </a:r>
            <a:endParaRPr lang="en-US" sz="3000" dirty="0"/>
          </a:p>
        </p:txBody>
      </p:sp>
      <p:sp>
        <p:nvSpPr>
          <p:cNvPr id="14" name="Text 7"/>
          <p:cNvSpPr txBox="1"/>
          <p:nvPr/>
        </p:nvSpPr>
        <p:spPr>
          <a:xfrm>
            <a:off x="640080" y="2560320"/>
            <a:ext cx="4572000" cy="548640"/>
          </a:xfrm>
          <a:prstGeom prst="rect">
            <a:avLst/>
          </a:prstGeom>
          <a:noFill/>
          <a:ln/>
        </p:spPr>
        <p:txBody>
          <a:bodyPr wrap="square" lIns="0" tIns="0" rIns="0" bIns="0" rtlCol="0" anchor="t"/>
          <a:lstStyle/>
          <a:p>
            <a:pPr marL="0" indent="0">
              <a:buNone/>
            </a:pPr>
            <a:r>
              <a:rPr lang="en-US" sz="1800" dirty="0">
                <a:solidFill>
                  <a:srgbClr val="22D3EE"/>
                </a:solidFill>
                <a:latin typeface="Calibri" pitchFamily="34" charset="0"/>
                <a:ea typeface="Calibri" pitchFamily="34" charset="-122"/>
                <a:cs typeface="Calibri" pitchFamily="34" charset="-120"/>
              </a:rPr>
              <a:t>Analysis of an Ethical Cybersecurity Scenario</a:t>
            </a:r>
            <a:endParaRPr lang="en-US" sz="1800" dirty="0"/>
          </a:p>
        </p:txBody>
      </p:sp>
      <p:sp>
        <p:nvSpPr>
          <p:cNvPr id="15" name="Text 8"/>
          <p:cNvSpPr txBox="1"/>
          <p:nvPr/>
        </p:nvSpPr>
        <p:spPr>
          <a:xfrm>
            <a:off x="640080" y="3291840"/>
            <a:ext cx="4754880" cy="1280160"/>
          </a:xfrm>
          <a:prstGeom prst="rect">
            <a:avLst/>
          </a:prstGeom>
          <a:noFill/>
          <a:ln/>
        </p:spPr>
        <p:txBody>
          <a:bodyPr wrap="square" lIns="0" tIns="0" rIns="0" bIns="0" rtlCol="0" anchor="t"/>
          <a:lstStyle/>
          <a:p>
            <a:pPr marL="0" indent="0">
              <a:spcAft>
                <a:spcPts val="400"/>
              </a:spcAft>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0F2A3A"/>
          </a:solidFill>
          <a:ln w="12700">
            <a:solidFill>
              <a:srgbClr val="22D3EE"/>
            </a:solidFill>
            <a:prstDash val="solid"/>
          </a:ln>
        </p:spPr>
      </p:sp>
      <p:pic>
        <p:nvPicPr>
          <p:cNvPr id="3" name="Image 0" descr="preencoded.png"/>
          <p:cNvPicPr>
            <a:picLocks noChangeAspect="1"/>
          </p:cNvPicPr>
          <p:nvPr/>
        </p:nvPicPr>
        <p:blipFill>
          <a:blip r:embed="rId3"/>
          <a:stretch>
            <a:fillRect/>
          </a:stretch>
        </p:blipFill>
        <p:spPr>
          <a:xfrm>
            <a:off x="588874" y="451714"/>
            <a:ext cx="285293" cy="285293"/>
          </a:xfrm>
          <a:prstGeom prst="rect">
            <a:avLst/>
          </a:prstGeom>
        </p:spPr>
      </p:pic>
      <p:sp>
        <p:nvSpPr>
          <p:cNvPr id="4" name="Text 1"/>
          <p:cNvSpPr txBox="1"/>
          <p:nvPr/>
        </p:nvSpPr>
        <p:spPr>
          <a:xfrm>
            <a:off x="1188720" y="320040"/>
            <a:ext cx="749808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Introduction: Ethics and the Researcher</a:t>
            </a:r>
            <a:endParaRPr lang="en-US" sz="2800" dirty="0"/>
          </a:p>
        </p:txBody>
      </p:sp>
      <p:sp>
        <p:nvSpPr>
          <p:cNvPr id="6" name="Shape 2"/>
          <p:cNvSpPr/>
          <p:nvPr/>
        </p:nvSpPr>
        <p:spPr>
          <a:xfrm>
            <a:off x="457200" y="1097280"/>
            <a:ext cx="4023360" cy="868680"/>
          </a:xfrm>
          <a:prstGeom prst="roundRect">
            <a:avLst>
              <a:gd name="adj" fmla="val 8421"/>
            </a:avLst>
          </a:prstGeom>
          <a:solidFill>
            <a:srgbClr val="121C30"/>
          </a:solidFill>
          <a:ln w="12700">
            <a:solidFill>
              <a:srgbClr val="1F3150"/>
            </a:solidFill>
            <a:prstDash val="solid"/>
          </a:ln>
        </p:spPr>
      </p:sp>
      <p:sp>
        <p:nvSpPr>
          <p:cNvPr id="7" name="Shape 3"/>
          <p:cNvSpPr/>
          <p:nvPr/>
        </p:nvSpPr>
        <p:spPr>
          <a:xfrm>
            <a:off x="594360" y="1303020"/>
            <a:ext cx="457200" cy="457200"/>
          </a:xfrm>
          <a:prstGeom prst="ellipse">
            <a:avLst/>
          </a:prstGeom>
          <a:solidFill>
            <a:srgbClr val="0F2A3A"/>
          </a:solidFill>
          <a:ln w="12700">
            <a:solidFill>
              <a:srgbClr val="22D3EE"/>
            </a:solidFill>
            <a:prstDash val="solid"/>
          </a:ln>
        </p:spPr>
      </p:sp>
      <p:pic>
        <p:nvPicPr>
          <p:cNvPr id="8" name="Image 1" descr="preencoded.png"/>
          <p:cNvPicPr>
            <a:picLocks noChangeAspect="1"/>
          </p:cNvPicPr>
          <p:nvPr/>
        </p:nvPicPr>
        <p:blipFill>
          <a:blip r:embed="rId4"/>
          <a:stretch>
            <a:fillRect/>
          </a:stretch>
        </p:blipFill>
        <p:spPr>
          <a:xfrm>
            <a:off x="704088" y="1412748"/>
            <a:ext cx="237744" cy="237744"/>
          </a:xfrm>
          <a:prstGeom prst="rect">
            <a:avLst/>
          </a:prstGeom>
        </p:spPr>
      </p:pic>
      <p:sp>
        <p:nvSpPr>
          <p:cNvPr id="9" name="Text 4"/>
          <p:cNvSpPr txBox="1"/>
          <p:nvPr/>
        </p:nvSpPr>
        <p:spPr>
          <a:xfrm>
            <a:off x="1188720" y="1143000"/>
            <a:ext cx="31546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Cybersecurity ethics</a:t>
            </a:r>
            <a:endParaRPr lang="en-US" sz="1500" dirty="0"/>
          </a:p>
        </p:txBody>
      </p:sp>
      <p:sp>
        <p:nvSpPr>
          <p:cNvPr id="10" name="Text 5"/>
          <p:cNvSpPr txBox="1"/>
          <p:nvPr/>
        </p:nvSpPr>
        <p:spPr>
          <a:xfrm>
            <a:off x="1188720" y="1426464"/>
            <a:ext cx="3154680" cy="502920"/>
          </a:xfrm>
          <a:prstGeom prst="rect">
            <a:avLst/>
          </a:prstGeom>
          <a:noFill/>
          <a:ln/>
        </p:spPr>
        <p:txBody>
          <a:bodyPr wrap="square" lIns="0" tIns="0" rIns="0" bIns="0" rtlCol="0" anchor="t"/>
          <a:lstStyle/>
          <a:p>
            <a:pPr marL="0" indent="0">
              <a:buNone/>
            </a:pPr>
            <a:r>
              <a:rPr lang="en-US" sz="1400" dirty="0">
                <a:solidFill>
                  <a:srgbClr val="E6EDF7"/>
                </a:solidFill>
                <a:latin typeface="Calibri" pitchFamily="34" charset="0"/>
                <a:ea typeface="Calibri" pitchFamily="34" charset="-122"/>
                <a:cs typeface="Calibri" pitchFamily="34" charset="-120"/>
              </a:rPr>
              <a:t>Moral rules for using security skills: protect others, avoid harm.</a:t>
            </a:r>
            <a:endParaRPr lang="en-US" sz="1400" dirty="0"/>
          </a:p>
        </p:txBody>
      </p:sp>
      <p:sp>
        <p:nvSpPr>
          <p:cNvPr id="11" name="Shape 6"/>
          <p:cNvSpPr/>
          <p:nvPr/>
        </p:nvSpPr>
        <p:spPr>
          <a:xfrm>
            <a:off x="457200" y="2057400"/>
            <a:ext cx="4023360" cy="868680"/>
          </a:xfrm>
          <a:prstGeom prst="roundRect">
            <a:avLst>
              <a:gd name="adj" fmla="val 8421"/>
            </a:avLst>
          </a:prstGeom>
          <a:solidFill>
            <a:srgbClr val="121C30"/>
          </a:solidFill>
          <a:ln w="12700">
            <a:solidFill>
              <a:srgbClr val="1F3150"/>
            </a:solidFill>
            <a:prstDash val="solid"/>
          </a:ln>
        </p:spPr>
      </p:sp>
      <p:sp>
        <p:nvSpPr>
          <p:cNvPr id="12" name="Shape 7"/>
          <p:cNvSpPr/>
          <p:nvPr/>
        </p:nvSpPr>
        <p:spPr>
          <a:xfrm>
            <a:off x="594360" y="2263140"/>
            <a:ext cx="457200" cy="457200"/>
          </a:xfrm>
          <a:prstGeom prst="ellipse">
            <a:avLst/>
          </a:prstGeom>
          <a:solidFill>
            <a:srgbClr val="0F2A3A"/>
          </a:solidFill>
          <a:ln w="12700">
            <a:solidFill>
              <a:srgbClr val="22D3EE"/>
            </a:solidFill>
            <a:prstDash val="solid"/>
          </a:ln>
        </p:spPr>
      </p:sp>
      <p:pic>
        <p:nvPicPr>
          <p:cNvPr id="13" name="Image 2" descr="preencoded.png"/>
          <p:cNvPicPr>
            <a:picLocks noChangeAspect="1"/>
          </p:cNvPicPr>
          <p:nvPr/>
        </p:nvPicPr>
        <p:blipFill>
          <a:blip r:embed="rId5"/>
          <a:stretch>
            <a:fillRect/>
          </a:stretch>
        </p:blipFill>
        <p:spPr>
          <a:xfrm>
            <a:off x="704088" y="2372868"/>
            <a:ext cx="237744" cy="237744"/>
          </a:xfrm>
          <a:prstGeom prst="rect">
            <a:avLst/>
          </a:prstGeom>
        </p:spPr>
      </p:pic>
      <p:sp>
        <p:nvSpPr>
          <p:cNvPr id="14" name="Text 8"/>
          <p:cNvSpPr txBox="1"/>
          <p:nvPr/>
        </p:nvSpPr>
        <p:spPr>
          <a:xfrm>
            <a:off x="1188720" y="2103120"/>
            <a:ext cx="31546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Researchers and discovery</a:t>
            </a:r>
            <a:endParaRPr lang="en-US" sz="1500" dirty="0"/>
          </a:p>
        </p:txBody>
      </p:sp>
      <p:sp>
        <p:nvSpPr>
          <p:cNvPr id="15" name="Text 9"/>
          <p:cNvSpPr txBox="1"/>
          <p:nvPr/>
        </p:nvSpPr>
        <p:spPr>
          <a:xfrm>
            <a:off x="1188720" y="2386584"/>
            <a:ext cx="3154680" cy="502920"/>
          </a:xfrm>
          <a:prstGeom prst="rect">
            <a:avLst/>
          </a:prstGeom>
          <a:noFill/>
          <a:ln/>
        </p:spPr>
        <p:txBody>
          <a:bodyPr wrap="square" lIns="0" tIns="0" rIns="0" bIns="0" rtlCol="0" anchor="t"/>
          <a:lstStyle/>
          <a:p>
            <a:pPr marL="0" indent="0">
              <a:buNone/>
            </a:pPr>
            <a:r>
              <a:rPr lang="en-US" sz="1400" dirty="0">
                <a:solidFill>
                  <a:srgbClr val="E6EDF7"/>
                </a:solidFill>
                <a:latin typeface="Calibri" pitchFamily="34" charset="0"/>
                <a:ea typeface="Calibri" pitchFamily="34" charset="-122"/>
                <a:cs typeface="Calibri" pitchFamily="34" charset="-120"/>
              </a:rPr>
              <a:t>Experts who find flaws so they can be fixed. Finding one is not wrong.</a:t>
            </a:r>
            <a:endParaRPr lang="en-US" sz="1400" dirty="0"/>
          </a:p>
        </p:txBody>
      </p:sp>
      <p:sp>
        <p:nvSpPr>
          <p:cNvPr id="16" name="Shape 10"/>
          <p:cNvSpPr/>
          <p:nvPr/>
        </p:nvSpPr>
        <p:spPr>
          <a:xfrm>
            <a:off x="457200" y="3017520"/>
            <a:ext cx="4023360" cy="868680"/>
          </a:xfrm>
          <a:prstGeom prst="roundRect">
            <a:avLst>
              <a:gd name="adj" fmla="val 8421"/>
            </a:avLst>
          </a:prstGeom>
          <a:solidFill>
            <a:srgbClr val="121C30"/>
          </a:solidFill>
          <a:ln w="12700">
            <a:solidFill>
              <a:srgbClr val="34D399"/>
            </a:solidFill>
            <a:prstDash val="solid"/>
          </a:ln>
        </p:spPr>
      </p:sp>
      <p:sp>
        <p:nvSpPr>
          <p:cNvPr id="17" name="Shape 11"/>
          <p:cNvSpPr/>
          <p:nvPr/>
        </p:nvSpPr>
        <p:spPr>
          <a:xfrm>
            <a:off x="594360" y="3223260"/>
            <a:ext cx="457200" cy="457200"/>
          </a:xfrm>
          <a:prstGeom prst="ellipse">
            <a:avLst/>
          </a:prstGeom>
          <a:solidFill>
            <a:srgbClr val="0F2A3A"/>
          </a:solidFill>
          <a:ln w="12700">
            <a:solidFill>
              <a:srgbClr val="34D399"/>
            </a:solidFill>
            <a:prstDash val="solid"/>
          </a:ln>
        </p:spPr>
      </p:sp>
      <p:pic>
        <p:nvPicPr>
          <p:cNvPr id="18" name="Image 3" descr="preencoded.png"/>
          <p:cNvPicPr>
            <a:picLocks noChangeAspect="1"/>
          </p:cNvPicPr>
          <p:nvPr/>
        </p:nvPicPr>
        <p:blipFill>
          <a:blip r:embed="rId6"/>
          <a:stretch>
            <a:fillRect/>
          </a:stretch>
        </p:blipFill>
        <p:spPr>
          <a:xfrm>
            <a:off x="704088" y="3332988"/>
            <a:ext cx="237744" cy="237744"/>
          </a:xfrm>
          <a:prstGeom prst="rect">
            <a:avLst/>
          </a:prstGeom>
        </p:spPr>
      </p:pic>
      <p:sp>
        <p:nvSpPr>
          <p:cNvPr id="19" name="Text 12"/>
          <p:cNvSpPr txBox="1"/>
          <p:nvPr/>
        </p:nvSpPr>
        <p:spPr>
          <a:xfrm>
            <a:off x="1188720" y="3063240"/>
            <a:ext cx="31546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Responsible disclosure</a:t>
            </a:r>
            <a:endParaRPr lang="en-US" sz="1500" dirty="0"/>
          </a:p>
        </p:txBody>
      </p:sp>
      <p:sp>
        <p:nvSpPr>
          <p:cNvPr id="20" name="Text 13"/>
          <p:cNvSpPr txBox="1"/>
          <p:nvPr/>
        </p:nvSpPr>
        <p:spPr>
          <a:xfrm>
            <a:off x="1188720" y="3346704"/>
            <a:ext cx="3154680" cy="502920"/>
          </a:xfrm>
          <a:prstGeom prst="rect">
            <a:avLst/>
          </a:prstGeom>
          <a:noFill/>
          <a:ln/>
        </p:spPr>
        <p:txBody>
          <a:bodyPr wrap="square" lIns="0" tIns="0" rIns="0" bIns="0" rtlCol="0" anchor="t"/>
          <a:lstStyle/>
          <a:p>
            <a:pPr marL="0" indent="0">
              <a:buNone/>
            </a:pPr>
            <a:r>
              <a:rPr lang="en-US" sz="1400" dirty="0">
                <a:solidFill>
                  <a:srgbClr val="E6EDF7"/>
                </a:solidFill>
                <a:latin typeface="Calibri" pitchFamily="34" charset="0"/>
                <a:ea typeface="Calibri" pitchFamily="34" charset="-122"/>
                <a:cs typeface="Calibri" pitchFamily="34" charset="-120"/>
              </a:rPr>
              <a:t>Reporting a flaw privately to its owner so it is fixed first.</a:t>
            </a:r>
            <a:endParaRPr lang="en-US" sz="1400" dirty="0"/>
          </a:p>
        </p:txBody>
      </p:sp>
      <p:sp>
        <p:nvSpPr>
          <p:cNvPr id="21" name="Shape 14"/>
          <p:cNvSpPr/>
          <p:nvPr/>
        </p:nvSpPr>
        <p:spPr>
          <a:xfrm>
            <a:off x="4663440" y="1097280"/>
            <a:ext cx="4023360" cy="2788920"/>
          </a:xfrm>
          <a:prstGeom prst="roundRect">
            <a:avLst>
              <a:gd name="adj" fmla="val 2623"/>
            </a:avLst>
          </a:prstGeom>
          <a:solidFill>
            <a:srgbClr val="0F2A3A"/>
          </a:solidFill>
          <a:ln w="12700">
            <a:solidFill>
              <a:srgbClr val="22D3EE"/>
            </a:solidFill>
            <a:prstDash val="solid"/>
          </a:ln>
        </p:spPr>
      </p:sp>
      <p:sp>
        <p:nvSpPr>
          <p:cNvPr id="22" name="Text 15"/>
          <p:cNvSpPr txBox="1"/>
          <p:nvPr/>
        </p:nvSpPr>
        <p:spPr>
          <a:xfrm>
            <a:off x="4846320" y="1170432"/>
            <a:ext cx="3657600" cy="365760"/>
          </a:xfrm>
          <a:prstGeom prst="rect">
            <a:avLst/>
          </a:prstGeom>
          <a:noFill/>
          <a:ln/>
        </p:spPr>
        <p:txBody>
          <a:bodyPr wrap="square" lIns="0" tIns="0" rIns="0" bIns="0" rtlCol="0" anchor="ctr"/>
          <a:lstStyle/>
          <a:p>
            <a:pPr marL="0" indent="0">
              <a:buNone/>
            </a:pPr>
            <a:r>
              <a:rPr lang="en-US" sz="1600" b="1" dirty="0">
                <a:solidFill>
                  <a:srgbClr val="22D3EE"/>
                </a:solidFill>
                <a:latin typeface="Calibri" pitchFamily="34" charset="0"/>
                <a:ea typeface="Calibri" pitchFamily="34" charset="-122"/>
                <a:cs typeface="Calibri" pitchFamily="34" charset="-120"/>
              </a:rPr>
              <a:t>A security researcher should...</a:t>
            </a:r>
            <a:endParaRPr lang="en-US" sz="1600" dirty="0"/>
          </a:p>
        </p:txBody>
      </p:sp>
      <p:sp>
        <p:nvSpPr>
          <p:cNvPr id="23" name="Shape 16"/>
          <p:cNvSpPr/>
          <p:nvPr/>
        </p:nvSpPr>
        <p:spPr>
          <a:xfrm>
            <a:off x="4846320" y="1655064"/>
            <a:ext cx="292608" cy="292608"/>
          </a:xfrm>
          <a:prstGeom prst="ellipse">
            <a:avLst/>
          </a:prstGeom>
          <a:solidFill>
            <a:srgbClr val="34D399"/>
          </a:solidFill>
          <a:ln w="12700">
            <a:solidFill>
              <a:srgbClr val="34D399"/>
            </a:solidFill>
            <a:prstDash val="solid"/>
          </a:ln>
        </p:spPr>
      </p:sp>
      <p:pic>
        <p:nvPicPr>
          <p:cNvPr id="24" name="Image 4" descr="preencoded.png"/>
          <p:cNvPicPr>
            <a:picLocks noChangeAspect="1"/>
          </p:cNvPicPr>
          <p:nvPr/>
        </p:nvPicPr>
        <p:blipFill>
          <a:blip r:embed="rId7"/>
          <a:stretch>
            <a:fillRect/>
          </a:stretch>
        </p:blipFill>
        <p:spPr>
          <a:xfrm>
            <a:off x="4916546" y="1725290"/>
            <a:ext cx="152156" cy="152156"/>
          </a:xfrm>
          <a:prstGeom prst="rect">
            <a:avLst/>
          </a:prstGeom>
        </p:spPr>
      </p:pic>
      <p:sp>
        <p:nvSpPr>
          <p:cNvPr id="25" name="Text 17"/>
          <p:cNvSpPr txBox="1"/>
          <p:nvPr/>
        </p:nvSpPr>
        <p:spPr>
          <a:xfrm>
            <a:off x="5257800" y="1627632"/>
            <a:ext cx="3291840" cy="347472"/>
          </a:xfrm>
          <a:prstGeom prst="rect">
            <a:avLst/>
          </a:prstGeom>
          <a:noFill/>
          <a:ln/>
        </p:spPr>
        <p:txBody>
          <a:bodyPr wrap="square" lIns="0" tIns="0" rIns="0" bIns="0" rtlCol="0" anchor="ctr"/>
          <a:lstStyle/>
          <a:p>
            <a:pPr marL="0" indent="0">
              <a:buNone/>
            </a:pPr>
            <a:r>
              <a:rPr lang="en-US" sz="1500" dirty="0">
                <a:solidFill>
                  <a:srgbClr val="E6EDF7"/>
                </a:solidFill>
                <a:latin typeface="Calibri" pitchFamily="34" charset="0"/>
                <a:ea typeface="Calibri" pitchFamily="34" charset="-122"/>
                <a:cs typeface="Calibri" pitchFamily="34" charset="-120"/>
              </a:rPr>
              <a:t>Find security weaknesses</a:t>
            </a:r>
            <a:endParaRPr lang="en-US" sz="1500" dirty="0"/>
          </a:p>
        </p:txBody>
      </p:sp>
      <p:sp>
        <p:nvSpPr>
          <p:cNvPr id="26" name="Shape 18"/>
          <p:cNvSpPr/>
          <p:nvPr/>
        </p:nvSpPr>
        <p:spPr>
          <a:xfrm>
            <a:off x="4846320" y="2029968"/>
            <a:ext cx="292608" cy="292608"/>
          </a:xfrm>
          <a:prstGeom prst="ellipse">
            <a:avLst/>
          </a:prstGeom>
          <a:solidFill>
            <a:srgbClr val="34D399"/>
          </a:solidFill>
          <a:ln w="12700">
            <a:solidFill>
              <a:srgbClr val="34D399"/>
            </a:solidFill>
            <a:prstDash val="solid"/>
          </a:ln>
        </p:spPr>
      </p:sp>
      <p:pic>
        <p:nvPicPr>
          <p:cNvPr id="27" name="Image 5" descr="preencoded.png"/>
          <p:cNvPicPr>
            <a:picLocks noChangeAspect="1"/>
          </p:cNvPicPr>
          <p:nvPr/>
        </p:nvPicPr>
        <p:blipFill>
          <a:blip r:embed="rId7"/>
          <a:stretch>
            <a:fillRect/>
          </a:stretch>
        </p:blipFill>
        <p:spPr>
          <a:xfrm>
            <a:off x="4916546" y="2100194"/>
            <a:ext cx="152156" cy="152156"/>
          </a:xfrm>
          <a:prstGeom prst="rect">
            <a:avLst/>
          </a:prstGeom>
        </p:spPr>
      </p:pic>
      <p:sp>
        <p:nvSpPr>
          <p:cNvPr id="28" name="Text 19"/>
          <p:cNvSpPr txBox="1"/>
          <p:nvPr/>
        </p:nvSpPr>
        <p:spPr>
          <a:xfrm>
            <a:off x="5257800" y="2002536"/>
            <a:ext cx="3291840" cy="347472"/>
          </a:xfrm>
          <a:prstGeom prst="rect">
            <a:avLst/>
          </a:prstGeom>
          <a:noFill/>
          <a:ln/>
        </p:spPr>
        <p:txBody>
          <a:bodyPr wrap="square" lIns="0" tIns="0" rIns="0" bIns="0" rtlCol="0" anchor="ctr"/>
          <a:lstStyle/>
          <a:p>
            <a:pPr marL="0" indent="0">
              <a:buNone/>
            </a:pPr>
            <a:r>
              <a:rPr lang="en-US" sz="1500" dirty="0">
                <a:solidFill>
                  <a:srgbClr val="E6EDF7"/>
                </a:solidFill>
                <a:latin typeface="Calibri" pitchFamily="34" charset="0"/>
                <a:ea typeface="Calibri" pitchFamily="34" charset="-122"/>
                <a:cs typeface="Calibri" pitchFamily="34" charset="-120"/>
              </a:rPr>
              <a:t>Inform organizations</a:t>
            </a:r>
            <a:endParaRPr lang="en-US" sz="1500" dirty="0"/>
          </a:p>
        </p:txBody>
      </p:sp>
      <p:sp>
        <p:nvSpPr>
          <p:cNvPr id="29" name="Shape 20"/>
          <p:cNvSpPr/>
          <p:nvPr/>
        </p:nvSpPr>
        <p:spPr>
          <a:xfrm>
            <a:off x="4846320" y="2404872"/>
            <a:ext cx="292608" cy="292608"/>
          </a:xfrm>
          <a:prstGeom prst="ellipse">
            <a:avLst/>
          </a:prstGeom>
          <a:solidFill>
            <a:srgbClr val="34D399"/>
          </a:solidFill>
          <a:ln w="12700">
            <a:solidFill>
              <a:srgbClr val="34D399"/>
            </a:solidFill>
            <a:prstDash val="solid"/>
          </a:ln>
        </p:spPr>
      </p:sp>
      <p:pic>
        <p:nvPicPr>
          <p:cNvPr id="30" name="Image 6" descr="preencoded.png"/>
          <p:cNvPicPr>
            <a:picLocks noChangeAspect="1"/>
          </p:cNvPicPr>
          <p:nvPr/>
        </p:nvPicPr>
        <p:blipFill>
          <a:blip r:embed="rId7"/>
          <a:stretch>
            <a:fillRect/>
          </a:stretch>
        </p:blipFill>
        <p:spPr>
          <a:xfrm>
            <a:off x="4916546" y="2475098"/>
            <a:ext cx="152156" cy="152156"/>
          </a:xfrm>
          <a:prstGeom prst="rect">
            <a:avLst/>
          </a:prstGeom>
        </p:spPr>
      </p:pic>
      <p:sp>
        <p:nvSpPr>
          <p:cNvPr id="31" name="Text 21"/>
          <p:cNvSpPr txBox="1"/>
          <p:nvPr/>
        </p:nvSpPr>
        <p:spPr>
          <a:xfrm>
            <a:off x="5257800" y="2377440"/>
            <a:ext cx="3291840" cy="347472"/>
          </a:xfrm>
          <a:prstGeom prst="rect">
            <a:avLst/>
          </a:prstGeom>
          <a:noFill/>
          <a:ln/>
        </p:spPr>
        <p:txBody>
          <a:bodyPr wrap="square" lIns="0" tIns="0" rIns="0" bIns="0" rtlCol="0" anchor="ctr"/>
          <a:lstStyle/>
          <a:p>
            <a:pPr marL="0" indent="0">
              <a:buNone/>
            </a:pPr>
            <a:r>
              <a:rPr lang="en-US" sz="1500" dirty="0">
                <a:solidFill>
                  <a:srgbClr val="E6EDF7"/>
                </a:solidFill>
                <a:latin typeface="Calibri" pitchFamily="34" charset="0"/>
                <a:ea typeface="Calibri" pitchFamily="34" charset="-122"/>
                <a:cs typeface="Calibri" pitchFamily="34" charset="-120"/>
              </a:rPr>
              <a:t>Help improve security</a:t>
            </a:r>
            <a:endParaRPr lang="en-US" sz="1500" dirty="0"/>
          </a:p>
        </p:txBody>
      </p:sp>
      <p:sp>
        <p:nvSpPr>
          <p:cNvPr id="32" name="Shape 22"/>
          <p:cNvSpPr/>
          <p:nvPr/>
        </p:nvSpPr>
        <p:spPr>
          <a:xfrm>
            <a:off x="4846320" y="2779776"/>
            <a:ext cx="292608" cy="292608"/>
          </a:xfrm>
          <a:prstGeom prst="ellipse">
            <a:avLst/>
          </a:prstGeom>
          <a:solidFill>
            <a:srgbClr val="34D399"/>
          </a:solidFill>
          <a:ln w="12700">
            <a:solidFill>
              <a:srgbClr val="34D399"/>
            </a:solidFill>
            <a:prstDash val="solid"/>
          </a:ln>
        </p:spPr>
      </p:sp>
      <p:pic>
        <p:nvPicPr>
          <p:cNvPr id="33" name="Image 7" descr="preencoded.png"/>
          <p:cNvPicPr>
            <a:picLocks noChangeAspect="1"/>
          </p:cNvPicPr>
          <p:nvPr/>
        </p:nvPicPr>
        <p:blipFill>
          <a:blip r:embed="rId7"/>
          <a:stretch>
            <a:fillRect/>
          </a:stretch>
        </p:blipFill>
        <p:spPr>
          <a:xfrm>
            <a:off x="4916546" y="2850002"/>
            <a:ext cx="152156" cy="152156"/>
          </a:xfrm>
          <a:prstGeom prst="rect">
            <a:avLst/>
          </a:prstGeom>
        </p:spPr>
      </p:pic>
      <p:sp>
        <p:nvSpPr>
          <p:cNvPr id="34" name="Text 23"/>
          <p:cNvSpPr txBox="1"/>
          <p:nvPr/>
        </p:nvSpPr>
        <p:spPr>
          <a:xfrm>
            <a:off x="5257800" y="2752344"/>
            <a:ext cx="3291840" cy="347472"/>
          </a:xfrm>
          <a:prstGeom prst="rect">
            <a:avLst/>
          </a:prstGeom>
          <a:noFill/>
          <a:ln/>
        </p:spPr>
        <p:txBody>
          <a:bodyPr wrap="square" lIns="0" tIns="0" rIns="0" bIns="0" rtlCol="0" anchor="ctr"/>
          <a:lstStyle/>
          <a:p>
            <a:pPr marL="0" indent="0">
              <a:buNone/>
            </a:pPr>
            <a:r>
              <a:rPr lang="en-US" sz="1500" dirty="0">
                <a:solidFill>
                  <a:srgbClr val="E6EDF7"/>
                </a:solidFill>
                <a:latin typeface="Calibri" pitchFamily="34" charset="0"/>
                <a:ea typeface="Calibri" pitchFamily="34" charset="-122"/>
                <a:cs typeface="Calibri" pitchFamily="34" charset="-120"/>
              </a:rPr>
              <a:t>Protect users</a:t>
            </a:r>
            <a:endParaRPr lang="en-US" sz="1500" dirty="0"/>
          </a:p>
        </p:txBody>
      </p:sp>
      <p:sp>
        <p:nvSpPr>
          <p:cNvPr id="35" name="Shape 24"/>
          <p:cNvSpPr/>
          <p:nvPr/>
        </p:nvSpPr>
        <p:spPr>
          <a:xfrm>
            <a:off x="4846320" y="3154680"/>
            <a:ext cx="292608" cy="292608"/>
          </a:xfrm>
          <a:prstGeom prst="ellipse">
            <a:avLst/>
          </a:prstGeom>
          <a:solidFill>
            <a:srgbClr val="34D399"/>
          </a:solidFill>
          <a:ln w="12700">
            <a:solidFill>
              <a:srgbClr val="34D399"/>
            </a:solidFill>
            <a:prstDash val="solid"/>
          </a:ln>
        </p:spPr>
      </p:sp>
      <p:pic>
        <p:nvPicPr>
          <p:cNvPr id="36" name="Image 8" descr="preencoded.png"/>
          <p:cNvPicPr>
            <a:picLocks noChangeAspect="1"/>
          </p:cNvPicPr>
          <p:nvPr/>
        </p:nvPicPr>
        <p:blipFill>
          <a:blip r:embed="rId7"/>
          <a:stretch>
            <a:fillRect/>
          </a:stretch>
        </p:blipFill>
        <p:spPr>
          <a:xfrm>
            <a:off x="4916546" y="3224906"/>
            <a:ext cx="152156" cy="152156"/>
          </a:xfrm>
          <a:prstGeom prst="rect">
            <a:avLst/>
          </a:prstGeom>
        </p:spPr>
      </p:pic>
      <p:sp>
        <p:nvSpPr>
          <p:cNvPr id="37" name="Text 25"/>
          <p:cNvSpPr txBox="1"/>
          <p:nvPr/>
        </p:nvSpPr>
        <p:spPr>
          <a:xfrm>
            <a:off x="5257800" y="3127248"/>
            <a:ext cx="3291840" cy="347472"/>
          </a:xfrm>
          <a:prstGeom prst="rect">
            <a:avLst/>
          </a:prstGeom>
          <a:noFill/>
          <a:ln/>
        </p:spPr>
        <p:txBody>
          <a:bodyPr wrap="square" lIns="0" tIns="0" rIns="0" bIns="0" rtlCol="0" anchor="ctr"/>
          <a:lstStyle/>
          <a:p>
            <a:pPr marL="0" indent="0">
              <a:buNone/>
            </a:pPr>
            <a:r>
              <a:rPr lang="en-US" sz="1500" dirty="0">
                <a:solidFill>
                  <a:srgbClr val="E6EDF7"/>
                </a:solidFill>
                <a:latin typeface="Calibri" pitchFamily="34" charset="0"/>
                <a:ea typeface="Calibri" pitchFamily="34" charset="-122"/>
                <a:cs typeface="Calibri" pitchFamily="34" charset="-120"/>
              </a:rPr>
              <a:t>Follow ethical guidelines</a:t>
            </a:r>
            <a:endParaRPr lang="en-US" sz="1500" dirty="0"/>
          </a:p>
        </p:txBody>
      </p:sp>
      <p:sp>
        <p:nvSpPr>
          <p:cNvPr id="38" name="Shape 26"/>
          <p:cNvSpPr/>
          <p:nvPr/>
        </p:nvSpPr>
        <p:spPr>
          <a:xfrm>
            <a:off x="4846320" y="3529584"/>
            <a:ext cx="292608" cy="292608"/>
          </a:xfrm>
          <a:prstGeom prst="ellipse">
            <a:avLst/>
          </a:prstGeom>
          <a:solidFill>
            <a:srgbClr val="34D399"/>
          </a:solidFill>
          <a:ln w="12700">
            <a:solidFill>
              <a:srgbClr val="34D399"/>
            </a:solidFill>
            <a:prstDash val="solid"/>
          </a:ln>
        </p:spPr>
      </p:sp>
      <p:pic>
        <p:nvPicPr>
          <p:cNvPr id="39" name="Image 9" descr="preencoded.png"/>
          <p:cNvPicPr>
            <a:picLocks noChangeAspect="1"/>
          </p:cNvPicPr>
          <p:nvPr/>
        </p:nvPicPr>
        <p:blipFill>
          <a:blip r:embed="rId7"/>
          <a:stretch>
            <a:fillRect/>
          </a:stretch>
        </p:blipFill>
        <p:spPr>
          <a:xfrm>
            <a:off x="4916546" y="3599810"/>
            <a:ext cx="152156" cy="152156"/>
          </a:xfrm>
          <a:prstGeom prst="rect">
            <a:avLst/>
          </a:prstGeom>
        </p:spPr>
      </p:pic>
      <p:sp>
        <p:nvSpPr>
          <p:cNvPr id="40" name="Text 27"/>
          <p:cNvSpPr txBox="1"/>
          <p:nvPr/>
        </p:nvSpPr>
        <p:spPr>
          <a:xfrm>
            <a:off x="5257800" y="3502152"/>
            <a:ext cx="3291840" cy="347472"/>
          </a:xfrm>
          <a:prstGeom prst="rect">
            <a:avLst/>
          </a:prstGeom>
          <a:noFill/>
          <a:ln/>
        </p:spPr>
        <p:txBody>
          <a:bodyPr wrap="square" lIns="0" tIns="0" rIns="0" bIns="0" rtlCol="0" anchor="ctr"/>
          <a:lstStyle/>
          <a:p>
            <a:pPr marL="0" indent="0">
              <a:buNone/>
            </a:pPr>
            <a:r>
              <a:rPr lang="en-US" sz="1500" dirty="0">
                <a:solidFill>
                  <a:srgbClr val="E6EDF7"/>
                </a:solidFill>
                <a:latin typeface="Calibri" pitchFamily="34" charset="0"/>
                <a:ea typeface="Calibri" pitchFamily="34" charset="-122"/>
                <a:cs typeface="Calibri" pitchFamily="34" charset="-120"/>
              </a:rPr>
              <a:t>Respect disclosure policies</a:t>
            </a:r>
            <a:endParaRPr lang="en-US" sz="1500" dirty="0"/>
          </a:p>
        </p:txBody>
      </p:sp>
      <p:sp>
        <p:nvSpPr>
          <p:cNvPr id="41" name="Shape 28"/>
          <p:cNvSpPr/>
          <p:nvPr/>
        </p:nvSpPr>
        <p:spPr>
          <a:xfrm>
            <a:off x="457200" y="4069080"/>
            <a:ext cx="8229600" cy="548640"/>
          </a:xfrm>
          <a:prstGeom prst="roundRect">
            <a:avLst>
              <a:gd name="adj" fmla="val 13333"/>
            </a:avLst>
          </a:prstGeom>
          <a:solidFill>
            <a:srgbClr val="0F2A3A"/>
          </a:solidFill>
          <a:ln w="12700">
            <a:solidFill>
              <a:srgbClr val="FBBF24"/>
            </a:solidFill>
            <a:prstDash val="solid"/>
          </a:ln>
        </p:spPr>
      </p:sp>
      <p:sp>
        <p:nvSpPr>
          <p:cNvPr id="42" name="Text 29"/>
          <p:cNvSpPr txBox="1"/>
          <p:nvPr/>
        </p:nvSpPr>
        <p:spPr>
          <a:xfrm>
            <a:off x="640080" y="4069080"/>
            <a:ext cx="7863840" cy="548640"/>
          </a:xfrm>
          <a:prstGeom prst="rect">
            <a:avLst/>
          </a:prstGeom>
          <a:noFill/>
          <a:ln/>
        </p:spPr>
        <p:txBody>
          <a:bodyPr wrap="square" lIns="0" tIns="0" rIns="0" bIns="0" rtlCol="0" anchor="ctr"/>
          <a:lstStyle/>
          <a:p>
            <a:pPr marL="0" indent="0">
              <a:buNone/>
            </a:pPr>
            <a:r>
              <a:rPr lang="en-US" sz="1700" dirty="0">
                <a:solidFill>
                  <a:srgbClr val="E6EDF7"/>
                </a:solidFill>
                <a:latin typeface="Calibri" pitchFamily="34" charset="0"/>
                <a:ea typeface="Calibri" pitchFamily="34" charset="-122"/>
                <a:cs typeface="Calibri" pitchFamily="34" charset="-120"/>
              </a:rPr>
              <a:t>Finding a vulnerability can be ethical, but </a:t>
            </a:r>
            <a:r>
              <a:rPr lang="en-US" sz="1700" b="1" dirty="0">
                <a:solidFill>
                  <a:srgbClr val="FBBF24"/>
                </a:solidFill>
                <a:latin typeface="Calibri" pitchFamily="34" charset="0"/>
                <a:ea typeface="Calibri" pitchFamily="34" charset="-122"/>
                <a:cs typeface="Calibri" pitchFamily="34" charset="-120"/>
              </a:rPr>
              <a:t>how it is handled matters.</a:t>
            </a:r>
            <a:endParaRPr lang="en-US" sz="1700" dirty="0"/>
          </a:p>
        </p:txBody>
      </p:sp>
      <p:sp>
        <p:nvSpPr>
          <p:cNvPr id="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0F2A3A"/>
          </a:solidFill>
          <a:ln w="12700">
            <a:solidFill>
              <a:srgbClr val="22D3EE"/>
            </a:solidFill>
            <a:prstDash val="solid"/>
          </a:ln>
        </p:spPr>
      </p:sp>
      <p:pic>
        <p:nvPicPr>
          <p:cNvPr id="3" name="Image 0" descr="preencoded.png"/>
          <p:cNvPicPr>
            <a:picLocks noChangeAspect="1"/>
          </p:cNvPicPr>
          <p:nvPr/>
        </p:nvPicPr>
        <p:blipFill>
          <a:blip r:embed="rId3"/>
          <a:stretch>
            <a:fillRect/>
          </a:stretch>
        </p:blipFill>
        <p:spPr>
          <a:xfrm>
            <a:off x="588874" y="451714"/>
            <a:ext cx="285293" cy="285293"/>
          </a:xfrm>
          <a:prstGeom prst="rect">
            <a:avLst/>
          </a:prstGeom>
        </p:spPr>
      </p:pic>
      <p:sp>
        <p:nvSpPr>
          <p:cNvPr id="4" name="Text 1"/>
          <p:cNvSpPr txBox="1"/>
          <p:nvPr/>
        </p:nvSpPr>
        <p:spPr>
          <a:xfrm>
            <a:off x="1188720" y="320040"/>
            <a:ext cx="749808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Scenario</a:t>
            </a:r>
            <a:endParaRPr lang="en-US" sz="2800" dirty="0"/>
          </a:p>
        </p:txBody>
      </p:sp>
      <p:sp>
        <p:nvSpPr>
          <p:cNvPr id="6" name="Shape 2"/>
          <p:cNvSpPr/>
          <p:nvPr/>
        </p:nvSpPr>
        <p:spPr>
          <a:xfrm>
            <a:off x="457200" y="1097280"/>
            <a:ext cx="8229600" cy="868680"/>
          </a:xfrm>
          <a:prstGeom prst="roundRect">
            <a:avLst>
              <a:gd name="adj" fmla="val 8421"/>
            </a:avLst>
          </a:prstGeom>
          <a:solidFill>
            <a:srgbClr val="0F2A3A"/>
          </a:solidFill>
          <a:ln w="12700">
            <a:solidFill>
              <a:srgbClr val="22D3EE"/>
            </a:solidFill>
            <a:prstDash val="solid"/>
          </a:ln>
        </p:spPr>
      </p:sp>
      <p:sp>
        <p:nvSpPr>
          <p:cNvPr id="7" name="Shape 3"/>
          <p:cNvSpPr/>
          <p:nvPr/>
        </p:nvSpPr>
        <p:spPr>
          <a:xfrm>
            <a:off x="640080" y="1325880"/>
            <a:ext cx="365760" cy="365760"/>
          </a:xfrm>
          <a:prstGeom prst="ellipse">
            <a:avLst/>
          </a:prstGeom>
          <a:solidFill>
            <a:srgbClr val="121C30"/>
          </a:solidFill>
          <a:ln w="12700">
            <a:solidFill>
              <a:srgbClr val="22D3EE"/>
            </a:solidFill>
            <a:prstDash val="solid"/>
          </a:ln>
        </p:spPr>
      </p:sp>
      <p:pic>
        <p:nvPicPr>
          <p:cNvPr id="8" name="Image 1" descr="preencoded.png"/>
          <p:cNvPicPr>
            <a:picLocks noChangeAspect="1"/>
          </p:cNvPicPr>
          <p:nvPr/>
        </p:nvPicPr>
        <p:blipFill>
          <a:blip r:embed="rId4"/>
          <a:stretch>
            <a:fillRect/>
          </a:stretch>
        </p:blipFill>
        <p:spPr>
          <a:xfrm>
            <a:off x="727862" y="1413662"/>
            <a:ext cx="190195" cy="190195"/>
          </a:xfrm>
          <a:prstGeom prst="rect">
            <a:avLst/>
          </a:prstGeom>
        </p:spPr>
      </p:pic>
      <p:sp>
        <p:nvSpPr>
          <p:cNvPr id="9" name="Text 4"/>
          <p:cNvSpPr txBox="1"/>
          <p:nvPr/>
        </p:nvSpPr>
        <p:spPr>
          <a:xfrm>
            <a:off x="1234440" y="1097280"/>
            <a:ext cx="7315200" cy="868680"/>
          </a:xfrm>
          <a:prstGeom prst="rect">
            <a:avLst/>
          </a:prstGeom>
          <a:noFill/>
          <a:ln/>
        </p:spPr>
        <p:txBody>
          <a:bodyPr wrap="square" lIns="0" tIns="0" rIns="0" bIns="0" rtlCol="0" anchor="ctr"/>
          <a:lstStyle/>
          <a:p>
            <a:pPr marL="0" indent="0">
              <a:buNone/>
            </a:pPr>
            <a:r>
              <a:rPr lang="en-US" sz="1400" i="1" dirty="0">
                <a:solidFill>
                  <a:srgbClr val="E6EDF7"/>
                </a:solidFill>
                <a:latin typeface="Calibri" pitchFamily="34" charset="0"/>
                <a:ea typeface="Calibri" pitchFamily="34" charset="-122"/>
                <a:cs typeface="Calibri" pitchFamily="34" charset="-120"/>
              </a:rPr>
              <a:t>A freelance security researcher discovers a critical security flaw in a major company. Instead of using the proper bug-bounty or responsible-disclosure channel, the researcher publicly exposes it on X (Twitter) to pressure the company into paying.</a:t>
            </a:r>
            <a:endParaRPr lang="en-US" sz="1400" dirty="0"/>
          </a:p>
        </p:txBody>
      </p:sp>
      <p:sp>
        <p:nvSpPr>
          <p:cNvPr id="10" name="Shape 5"/>
          <p:cNvSpPr/>
          <p:nvPr/>
        </p:nvSpPr>
        <p:spPr>
          <a:xfrm>
            <a:off x="457200" y="2103120"/>
            <a:ext cx="4023360" cy="1188720"/>
          </a:xfrm>
          <a:prstGeom prst="roundRect">
            <a:avLst>
              <a:gd name="adj" fmla="val 6154"/>
            </a:avLst>
          </a:prstGeom>
          <a:solidFill>
            <a:srgbClr val="121C30"/>
          </a:solidFill>
          <a:ln w="12700">
            <a:solidFill>
              <a:srgbClr val="1F3150"/>
            </a:solidFill>
            <a:prstDash val="solid"/>
          </a:ln>
        </p:spPr>
      </p:sp>
      <p:sp>
        <p:nvSpPr>
          <p:cNvPr id="11" name="Shape 6"/>
          <p:cNvSpPr/>
          <p:nvPr/>
        </p:nvSpPr>
        <p:spPr>
          <a:xfrm>
            <a:off x="594360" y="2468880"/>
            <a:ext cx="457200" cy="457200"/>
          </a:xfrm>
          <a:prstGeom prst="ellipse">
            <a:avLst/>
          </a:prstGeom>
          <a:solidFill>
            <a:srgbClr val="0F2A3A"/>
          </a:solidFill>
          <a:ln w="12700">
            <a:solidFill>
              <a:srgbClr val="22D3EE"/>
            </a:solidFill>
            <a:prstDash val="solid"/>
          </a:ln>
        </p:spPr>
      </p:sp>
      <p:pic>
        <p:nvPicPr>
          <p:cNvPr id="12" name="Image 2" descr="preencoded.png"/>
          <p:cNvPicPr>
            <a:picLocks noChangeAspect="1"/>
          </p:cNvPicPr>
          <p:nvPr/>
        </p:nvPicPr>
        <p:blipFill>
          <a:blip r:embed="rId5"/>
          <a:stretch>
            <a:fillRect/>
          </a:stretch>
        </p:blipFill>
        <p:spPr>
          <a:xfrm>
            <a:off x="704088" y="2578608"/>
            <a:ext cx="237744" cy="237744"/>
          </a:xfrm>
          <a:prstGeom prst="rect">
            <a:avLst/>
          </a:prstGeom>
        </p:spPr>
      </p:pic>
      <p:sp>
        <p:nvSpPr>
          <p:cNvPr id="13" name="Text 7"/>
          <p:cNvSpPr txBox="1"/>
          <p:nvPr/>
        </p:nvSpPr>
        <p:spPr>
          <a:xfrm>
            <a:off x="1188720" y="2148840"/>
            <a:ext cx="31546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Who is involved?</a:t>
            </a:r>
            <a:endParaRPr lang="en-US" sz="1500" dirty="0"/>
          </a:p>
        </p:txBody>
      </p:sp>
      <p:sp>
        <p:nvSpPr>
          <p:cNvPr id="14" name="Text 8"/>
          <p:cNvSpPr txBox="1"/>
          <p:nvPr/>
        </p:nvSpPr>
        <p:spPr>
          <a:xfrm>
            <a:off x="1188720" y="2432304"/>
            <a:ext cx="3154680" cy="822960"/>
          </a:xfrm>
          <a:prstGeom prst="rect">
            <a:avLst/>
          </a:prstGeom>
          <a:noFill/>
          <a:ln/>
        </p:spPr>
        <p:txBody>
          <a:bodyPr wrap="square" lIns="0" tIns="0" rIns="0" bIns="0" rtlCol="0" anchor="t"/>
          <a:lstStyle/>
          <a:p>
            <a:pPr marL="0" indent="0">
              <a:buNone/>
            </a:pPr>
            <a:r>
              <a:rPr lang="en-US" sz="1400" dirty="0">
                <a:solidFill>
                  <a:srgbClr val="E6EDF7"/>
                </a:solidFill>
                <a:latin typeface="Calibri" pitchFamily="34" charset="0"/>
                <a:ea typeface="Calibri" pitchFamily="34" charset="-122"/>
                <a:cs typeface="Calibri" pitchFamily="34" charset="-120"/>
              </a:rPr>
              <a:t>An independent security researcher and a major company whose systems serve many users.</a:t>
            </a:r>
            <a:endParaRPr lang="en-US" sz="1400" dirty="0"/>
          </a:p>
        </p:txBody>
      </p:sp>
      <p:sp>
        <p:nvSpPr>
          <p:cNvPr id="15" name="Shape 9"/>
          <p:cNvSpPr/>
          <p:nvPr/>
        </p:nvSpPr>
        <p:spPr>
          <a:xfrm>
            <a:off x="4663440" y="2103120"/>
            <a:ext cx="4023360" cy="1188720"/>
          </a:xfrm>
          <a:prstGeom prst="roundRect">
            <a:avLst>
              <a:gd name="adj" fmla="val 6154"/>
            </a:avLst>
          </a:prstGeom>
          <a:solidFill>
            <a:srgbClr val="121C30"/>
          </a:solidFill>
          <a:ln w="12700">
            <a:solidFill>
              <a:srgbClr val="1F3150"/>
            </a:solidFill>
            <a:prstDash val="solid"/>
          </a:ln>
        </p:spPr>
      </p:sp>
      <p:sp>
        <p:nvSpPr>
          <p:cNvPr id="16" name="Shape 10"/>
          <p:cNvSpPr/>
          <p:nvPr/>
        </p:nvSpPr>
        <p:spPr>
          <a:xfrm>
            <a:off x="4800600" y="2468880"/>
            <a:ext cx="457200" cy="457200"/>
          </a:xfrm>
          <a:prstGeom prst="ellipse">
            <a:avLst/>
          </a:prstGeom>
          <a:solidFill>
            <a:srgbClr val="0F2A3A"/>
          </a:solidFill>
          <a:ln w="12700">
            <a:solidFill>
              <a:srgbClr val="FBBF24"/>
            </a:solidFill>
            <a:prstDash val="solid"/>
          </a:ln>
        </p:spPr>
      </p:sp>
      <p:pic>
        <p:nvPicPr>
          <p:cNvPr id="17" name="Image 3" descr="preencoded.png"/>
          <p:cNvPicPr>
            <a:picLocks noChangeAspect="1"/>
          </p:cNvPicPr>
          <p:nvPr/>
        </p:nvPicPr>
        <p:blipFill>
          <a:blip r:embed="rId6"/>
          <a:stretch>
            <a:fillRect/>
          </a:stretch>
        </p:blipFill>
        <p:spPr>
          <a:xfrm>
            <a:off x="4910328" y="2578608"/>
            <a:ext cx="237744" cy="237744"/>
          </a:xfrm>
          <a:prstGeom prst="rect">
            <a:avLst/>
          </a:prstGeom>
        </p:spPr>
      </p:pic>
      <p:sp>
        <p:nvSpPr>
          <p:cNvPr id="18" name="Text 11"/>
          <p:cNvSpPr txBox="1"/>
          <p:nvPr/>
        </p:nvSpPr>
        <p:spPr>
          <a:xfrm>
            <a:off x="5394960" y="2148840"/>
            <a:ext cx="31546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was discovered?</a:t>
            </a:r>
            <a:endParaRPr lang="en-US" sz="1500" dirty="0"/>
          </a:p>
        </p:txBody>
      </p:sp>
      <p:sp>
        <p:nvSpPr>
          <p:cNvPr id="19" name="Text 12"/>
          <p:cNvSpPr txBox="1"/>
          <p:nvPr/>
        </p:nvSpPr>
        <p:spPr>
          <a:xfrm>
            <a:off x="5394960" y="2432304"/>
            <a:ext cx="3154680" cy="822960"/>
          </a:xfrm>
          <a:prstGeom prst="rect">
            <a:avLst/>
          </a:prstGeom>
          <a:noFill/>
          <a:ln/>
        </p:spPr>
        <p:txBody>
          <a:bodyPr wrap="square" lIns="0" tIns="0" rIns="0" bIns="0" rtlCol="0" anchor="t"/>
          <a:lstStyle/>
          <a:p>
            <a:pPr marL="0" indent="0">
              <a:buNone/>
            </a:pPr>
            <a:r>
              <a:rPr lang="en-US" sz="1400" dirty="0">
                <a:solidFill>
                  <a:srgbClr val="E6EDF7"/>
                </a:solidFill>
                <a:latin typeface="Calibri" pitchFamily="34" charset="0"/>
                <a:ea typeface="Calibri" pitchFamily="34" charset="-122"/>
                <a:cs typeface="Calibri" pitchFamily="34" charset="-120"/>
              </a:rPr>
              <a:t>A critical security flaw: a serious weakness that could harm the company and its users if misused.</a:t>
            </a:r>
            <a:endParaRPr lang="en-US" sz="1400" dirty="0"/>
          </a:p>
        </p:txBody>
      </p:sp>
      <p:sp>
        <p:nvSpPr>
          <p:cNvPr id="20" name="Shape 13"/>
          <p:cNvSpPr/>
          <p:nvPr/>
        </p:nvSpPr>
        <p:spPr>
          <a:xfrm>
            <a:off x="457200" y="3429000"/>
            <a:ext cx="4023360" cy="1188720"/>
          </a:xfrm>
          <a:prstGeom prst="roundRect">
            <a:avLst>
              <a:gd name="adj" fmla="val 6154"/>
            </a:avLst>
          </a:prstGeom>
          <a:solidFill>
            <a:srgbClr val="121C30"/>
          </a:solidFill>
          <a:ln w="12700">
            <a:solidFill>
              <a:srgbClr val="34D399"/>
            </a:solidFill>
            <a:prstDash val="solid"/>
          </a:ln>
        </p:spPr>
      </p:sp>
      <p:sp>
        <p:nvSpPr>
          <p:cNvPr id="21" name="Shape 14"/>
          <p:cNvSpPr/>
          <p:nvPr/>
        </p:nvSpPr>
        <p:spPr>
          <a:xfrm>
            <a:off x="594360" y="3794760"/>
            <a:ext cx="457200" cy="457200"/>
          </a:xfrm>
          <a:prstGeom prst="ellipse">
            <a:avLst/>
          </a:prstGeom>
          <a:solidFill>
            <a:srgbClr val="0F2A3A"/>
          </a:solidFill>
          <a:ln w="12700">
            <a:solidFill>
              <a:srgbClr val="34D399"/>
            </a:solidFill>
            <a:prstDash val="solid"/>
          </a:ln>
        </p:spPr>
      </p:sp>
      <p:pic>
        <p:nvPicPr>
          <p:cNvPr id="22" name="Image 4" descr="preencoded.png"/>
          <p:cNvPicPr>
            <a:picLocks noChangeAspect="1"/>
          </p:cNvPicPr>
          <p:nvPr/>
        </p:nvPicPr>
        <p:blipFill>
          <a:blip r:embed="rId7"/>
          <a:stretch>
            <a:fillRect/>
          </a:stretch>
        </p:blipFill>
        <p:spPr>
          <a:xfrm>
            <a:off x="704088" y="3904488"/>
            <a:ext cx="237744" cy="237744"/>
          </a:xfrm>
          <a:prstGeom prst="rect">
            <a:avLst/>
          </a:prstGeom>
        </p:spPr>
      </p:pic>
      <p:sp>
        <p:nvSpPr>
          <p:cNvPr id="23" name="Text 15"/>
          <p:cNvSpPr txBox="1"/>
          <p:nvPr/>
        </p:nvSpPr>
        <p:spPr>
          <a:xfrm>
            <a:off x="1188720" y="3474720"/>
            <a:ext cx="31546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should they have done?</a:t>
            </a:r>
            <a:endParaRPr lang="en-US" sz="1500" dirty="0"/>
          </a:p>
        </p:txBody>
      </p:sp>
      <p:sp>
        <p:nvSpPr>
          <p:cNvPr id="24" name="Text 16"/>
          <p:cNvSpPr txBox="1"/>
          <p:nvPr/>
        </p:nvSpPr>
        <p:spPr>
          <a:xfrm>
            <a:off x="1188720" y="3758184"/>
            <a:ext cx="3154680" cy="822960"/>
          </a:xfrm>
          <a:prstGeom prst="rect">
            <a:avLst/>
          </a:prstGeom>
          <a:noFill/>
          <a:ln/>
        </p:spPr>
        <p:txBody>
          <a:bodyPr wrap="square" lIns="0" tIns="0" rIns="0" bIns="0" rtlCol="0" anchor="t"/>
          <a:lstStyle/>
          <a:p>
            <a:pPr marL="0" indent="0">
              <a:buNone/>
            </a:pPr>
            <a:r>
              <a:rPr lang="en-US" sz="1400" dirty="0">
                <a:solidFill>
                  <a:srgbClr val="E6EDF7"/>
                </a:solidFill>
                <a:latin typeface="Calibri" pitchFamily="34" charset="0"/>
                <a:ea typeface="Calibri" pitchFamily="34" charset="-122"/>
                <a:cs typeface="Calibri" pitchFamily="34" charset="-120"/>
              </a:rPr>
              <a:t>Reported it privately through the bug-bounty or disclosure program, then waited for a fix.</a:t>
            </a:r>
            <a:endParaRPr lang="en-US" sz="1400" dirty="0"/>
          </a:p>
        </p:txBody>
      </p:sp>
      <p:sp>
        <p:nvSpPr>
          <p:cNvPr id="25" name="Shape 17"/>
          <p:cNvSpPr/>
          <p:nvPr/>
        </p:nvSpPr>
        <p:spPr>
          <a:xfrm>
            <a:off x="4663440" y="3429000"/>
            <a:ext cx="4023360" cy="1188720"/>
          </a:xfrm>
          <a:prstGeom prst="roundRect">
            <a:avLst>
              <a:gd name="adj" fmla="val 6154"/>
            </a:avLst>
          </a:prstGeom>
          <a:solidFill>
            <a:srgbClr val="2A1620"/>
          </a:solidFill>
          <a:ln w="12700">
            <a:solidFill>
              <a:srgbClr val="F87171"/>
            </a:solidFill>
            <a:prstDash val="solid"/>
          </a:ln>
        </p:spPr>
      </p:sp>
      <p:sp>
        <p:nvSpPr>
          <p:cNvPr id="26" name="Shape 18"/>
          <p:cNvSpPr/>
          <p:nvPr/>
        </p:nvSpPr>
        <p:spPr>
          <a:xfrm>
            <a:off x="4800600" y="3794760"/>
            <a:ext cx="457200" cy="457200"/>
          </a:xfrm>
          <a:prstGeom prst="ellipse">
            <a:avLst/>
          </a:prstGeom>
          <a:solidFill>
            <a:srgbClr val="0F2A3A"/>
          </a:solidFill>
          <a:ln w="12700">
            <a:solidFill>
              <a:srgbClr val="F87171"/>
            </a:solidFill>
            <a:prstDash val="solid"/>
          </a:ln>
        </p:spPr>
      </p:sp>
      <p:pic>
        <p:nvPicPr>
          <p:cNvPr id="27" name="Image 5" descr="preencoded.png"/>
          <p:cNvPicPr>
            <a:picLocks noChangeAspect="1"/>
          </p:cNvPicPr>
          <p:nvPr/>
        </p:nvPicPr>
        <p:blipFill>
          <a:blip r:embed="rId8"/>
          <a:stretch>
            <a:fillRect/>
          </a:stretch>
        </p:blipFill>
        <p:spPr>
          <a:xfrm>
            <a:off x="4910328" y="3904488"/>
            <a:ext cx="237744" cy="237744"/>
          </a:xfrm>
          <a:prstGeom prst="rect">
            <a:avLst/>
          </a:prstGeom>
        </p:spPr>
      </p:pic>
      <p:sp>
        <p:nvSpPr>
          <p:cNvPr id="28" name="Text 19"/>
          <p:cNvSpPr txBox="1"/>
          <p:nvPr/>
        </p:nvSpPr>
        <p:spPr>
          <a:xfrm>
            <a:off x="5394960" y="3474720"/>
            <a:ext cx="31546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did they actually do?</a:t>
            </a:r>
            <a:endParaRPr lang="en-US" sz="1500" dirty="0"/>
          </a:p>
        </p:txBody>
      </p:sp>
      <p:sp>
        <p:nvSpPr>
          <p:cNvPr id="29" name="Text 20"/>
          <p:cNvSpPr txBox="1"/>
          <p:nvPr/>
        </p:nvSpPr>
        <p:spPr>
          <a:xfrm>
            <a:off x="5394960" y="3758184"/>
            <a:ext cx="3154680" cy="822960"/>
          </a:xfrm>
          <a:prstGeom prst="rect">
            <a:avLst/>
          </a:prstGeom>
          <a:noFill/>
          <a:ln/>
        </p:spPr>
        <p:txBody>
          <a:bodyPr wrap="square" lIns="0" tIns="0" rIns="0" bIns="0" rtlCol="0" anchor="t"/>
          <a:lstStyle/>
          <a:p>
            <a:pPr marL="0" indent="0">
              <a:buNone/>
            </a:pPr>
            <a:r>
              <a:rPr lang="en-US" sz="1400" dirty="0">
                <a:solidFill>
                  <a:srgbClr val="E6EDF7"/>
                </a:solidFill>
                <a:latin typeface="Calibri" pitchFamily="34" charset="0"/>
                <a:ea typeface="Calibri" pitchFamily="34" charset="-122"/>
                <a:cs typeface="Calibri" pitchFamily="34" charset="-120"/>
              </a:rPr>
              <a:t>Posted the flaw publicly on X to pressure the company into paying, with no chance to fix it first.</a:t>
            </a:r>
            <a:endParaRPr lang="en-US" sz="1400" dirty="0"/>
          </a:p>
        </p:txBody>
      </p:sp>
      <p:sp>
        <p:nvSpPr>
          <p:cNvPr id="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0F2A3A"/>
          </a:solidFill>
          <a:ln w="12700">
            <a:solidFill>
              <a:srgbClr val="22D3EE"/>
            </a:solidFill>
            <a:prstDash val="solid"/>
          </a:ln>
        </p:spPr>
      </p:sp>
      <p:pic>
        <p:nvPicPr>
          <p:cNvPr id="3" name="Image 0" descr="preencoded.png"/>
          <p:cNvPicPr>
            <a:picLocks noChangeAspect="1"/>
          </p:cNvPicPr>
          <p:nvPr/>
        </p:nvPicPr>
        <p:blipFill>
          <a:blip r:embed="rId3"/>
          <a:stretch>
            <a:fillRect/>
          </a:stretch>
        </p:blipFill>
        <p:spPr>
          <a:xfrm>
            <a:off x="588874" y="451714"/>
            <a:ext cx="285293" cy="285293"/>
          </a:xfrm>
          <a:prstGeom prst="rect">
            <a:avLst/>
          </a:prstGeom>
        </p:spPr>
      </p:pic>
      <p:sp>
        <p:nvSpPr>
          <p:cNvPr id="4" name="Text 1"/>
          <p:cNvSpPr txBox="1"/>
          <p:nvPr/>
        </p:nvSpPr>
        <p:spPr>
          <a:xfrm>
            <a:off x="1188720" y="320040"/>
            <a:ext cx="749808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Vulnerability and Its Risks</a:t>
            </a:r>
            <a:endParaRPr lang="en-US" sz="2800" dirty="0"/>
          </a:p>
        </p:txBody>
      </p:sp>
      <p:sp>
        <p:nvSpPr>
          <p:cNvPr id="6" name="Shape 2"/>
          <p:cNvSpPr/>
          <p:nvPr/>
        </p:nvSpPr>
        <p:spPr>
          <a:xfrm>
            <a:off x="457200" y="1097280"/>
            <a:ext cx="4206240" cy="1005840"/>
          </a:xfrm>
          <a:prstGeom prst="roundRect">
            <a:avLst>
              <a:gd name="adj" fmla="val 7273"/>
            </a:avLst>
          </a:prstGeom>
          <a:solidFill>
            <a:srgbClr val="121C30"/>
          </a:solidFill>
          <a:ln w="12700">
            <a:solidFill>
              <a:srgbClr val="1F3150"/>
            </a:solidFill>
            <a:prstDash val="solid"/>
          </a:ln>
        </p:spPr>
      </p:sp>
      <p:sp>
        <p:nvSpPr>
          <p:cNvPr id="7" name="Shape 3"/>
          <p:cNvSpPr/>
          <p:nvPr/>
        </p:nvSpPr>
        <p:spPr>
          <a:xfrm>
            <a:off x="594360" y="1371600"/>
            <a:ext cx="457200" cy="457200"/>
          </a:xfrm>
          <a:prstGeom prst="ellipse">
            <a:avLst/>
          </a:prstGeom>
          <a:solidFill>
            <a:srgbClr val="0F2A3A"/>
          </a:solidFill>
          <a:ln w="12700">
            <a:solidFill>
              <a:srgbClr val="22D3EE"/>
            </a:solidFill>
            <a:prstDash val="solid"/>
          </a:ln>
        </p:spPr>
      </p:sp>
      <p:pic>
        <p:nvPicPr>
          <p:cNvPr id="8" name="Image 1" descr="preencoded.png"/>
          <p:cNvPicPr>
            <a:picLocks noChangeAspect="1"/>
          </p:cNvPicPr>
          <p:nvPr/>
        </p:nvPicPr>
        <p:blipFill>
          <a:blip r:embed="rId3"/>
          <a:stretch>
            <a:fillRect/>
          </a:stretch>
        </p:blipFill>
        <p:spPr>
          <a:xfrm>
            <a:off x="704088" y="1481328"/>
            <a:ext cx="237744" cy="237744"/>
          </a:xfrm>
          <a:prstGeom prst="rect">
            <a:avLst/>
          </a:prstGeom>
        </p:spPr>
      </p:pic>
      <p:sp>
        <p:nvSpPr>
          <p:cNvPr id="9" name="Text 4"/>
          <p:cNvSpPr txBox="1"/>
          <p:nvPr/>
        </p:nvSpPr>
        <p:spPr>
          <a:xfrm>
            <a:off x="1188720" y="1143000"/>
            <a:ext cx="333756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is a vulnerability?</a:t>
            </a:r>
            <a:endParaRPr lang="en-US" sz="1500" dirty="0"/>
          </a:p>
        </p:txBody>
      </p:sp>
      <p:sp>
        <p:nvSpPr>
          <p:cNvPr id="10" name="Text 5"/>
          <p:cNvSpPr txBox="1"/>
          <p:nvPr/>
        </p:nvSpPr>
        <p:spPr>
          <a:xfrm>
            <a:off x="1188720" y="1426464"/>
            <a:ext cx="3337560" cy="640080"/>
          </a:xfrm>
          <a:prstGeom prst="rect">
            <a:avLst/>
          </a:prstGeom>
          <a:noFill/>
          <a:ln/>
        </p:spPr>
        <p:txBody>
          <a:bodyPr wrap="square" lIns="0" tIns="0" rIns="0" bIns="0" rtlCol="0" anchor="t"/>
          <a:lstStyle/>
          <a:p>
            <a:pPr marL="0" indent="0">
              <a:buNone/>
            </a:pPr>
            <a:r>
              <a:rPr lang="en-US" sz="1400" dirty="0">
                <a:solidFill>
                  <a:srgbClr val="E6EDF7"/>
                </a:solidFill>
                <a:latin typeface="Calibri" pitchFamily="34" charset="0"/>
                <a:ea typeface="Calibri" pitchFamily="34" charset="-122"/>
                <a:cs typeface="Calibri" pitchFamily="34" charset="-120"/>
              </a:rPr>
              <a:t>A weakness or mistake in software or settings that someone could misuse to gain access or cause damage.</a:t>
            </a:r>
            <a:endParaRPr lang="en-US" sz="1400" dirty="0"/>
          </a:p>
        </p:txBody>
      </p:sp>
      <p:sp>
        <p:nvSpPr>
          <p:cNvPr id="11" name="Shape 6"/>
          <p:cNvSpPr/>
          <p:nvPr/>
        </p:nvSpPr>
        <p:spPr>
          <a:xfrm>
            <a:off x="457200" y="2176272"/>
            <a:ext cx="4206240" cy="1005840"/>
          </a:xfrm>
          <a:prstGeom prst="roundRect">
            <a:avLst>
              <a:gd name="adj" fmla="val 7273"/>
            </a:avLst>
          </a:prstGeom>
          <a:solidFill>
            <a:srgbClr val="121C30"/>
          </a:solidFill>
          <a:ln w="12700">
            <a:solidFill>
              <a:srgbClr val="1F3150"/>
            </a:solidFill>
            <a:prstDash val="solid"/>
          </a:ln>
        </p:spPr>
      </p:sp>
      <p:sp>
        <p:nvSpPr>
          <p:cNvPr id="12" name="Shape 7"/>
          <p:cNvSpPr/>
          <p:nvPr/>
        </p:nvSpPr>
        <p:spPr>
          <a:xfrm>
            <a:off x="594360" y="2450592"/>
            <a:ext cx="457200" cy="457200"/>
          </a:xfrm>
          <a:prstGeom prst="ellipse">
            <a:avLst/>
          </a:prstGeom>
          <a:solidFill>
            <a:srgbClr val="0F2A3A"/>
          </a:solidFill>
          <a:ln w="12700">
            <a:solidFill>
              <a:srgbClr val="FBBF24"/>
            </a:solidFill>
            <a:prstDash val="solid"/>
          </a:ln>
        </p:spPr>
      </p:sp>
      <p:pic>
        <p:nvPicPr>
          <p:cNvPr id="13" name="Image 2" descr="preencoded.png"/>
          <p:cNvPicPr>
            <a:picLocks noChangeAspect="1"/>
          </p:cNvPicPr>
          <p:nvPr/>
        </p:nvPicPr>
        <p:blipFill>
          <a:blip r:embed="rId4"/>
          <a:stretch>
            <a:fillRect/>
          </a:stretch>
        </p:blipFill>
        <p:spPr>
          <a:xfrm>
            <a:off x="704088" y="2560320"/>
            <a:ext cx="237744" cy="237744"/>
          </a:xfrm>
          <a:prstGeom prst="rect">
            <a:avLst/>
          </a:prstGeom>
        </p:spPr>
      </p:pic>
      <p:sp>
        <p:nvSpPr>
          <p:cNvPr id="14" name="Text 8"/>
          <p:cNvSpPr txBox="1"/>
          <p:nvPr/>
        </p:nvSpPr>
        <p:spPr>
          <a:xfrm>
            <a:off x="1188720" y="2221992"/>
            <a:ext cx="333756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makes it critical?</a:t>
            </a:r>
            <a:endParaRPr lang="en-US" sz="1500" dirty="0"/>
          </a:p>
        </p:txBody>
      </p:sp>
      <p:sp>
        <p:nvSpPr>
          <p:cNvPr id="15" name="Text 9"/>
          <p:cNvSpPr txBox="1"/>
          <p:nvPr/>
        </p:nvSpPr>
        <p:spPr>
          <a:xfrm>
            <a:off x="1188720" y="2505456"/>
            <a:ext cx="3337560" cy="640080"/>
          </a:xfrm>
          <a:prstGeom prst="rect">
            <a:avLst/>
          </a:prstGeom>
          <a:noFill/>
          <a:ln/>
        </p:spPr>
        <p:txBody>
          <a:bodyPr wrap="square" lIns="0" tIns="0" rIns="0" bIns="0" rtlCol="0" anchor="t"/>
          <a:lstStyle/>
          <a:p>
            <a:pPr marL="0" indent="0">
              <a:buNone/>
            </a:pPr>
            <a:r>
              <a:rPr lang="en-US" sz="1400" dirty="0">
                <a:solidFill>
                  <a:srgbClr val="E6EDF7"/>
                </a:solidFill>
                <a:latin typeface="Calibri" pitchFamily="34" charset="0"/>
                <a:ea typeface="Calibri" pitchFamily="34" charset="-122"/>
                <a:cs typeface="Calibri" pitchFamily="34" charset="-120"/>
              </a:rPr>
              <a:t>It is easy to misuse, affects many users, or exposes sensitive data such as payment details.</a:t>
            </a:r>
            <a:endParaRPr lang="en-US" sz="1400" dirty="0"/>
          </a:p>
        </p:txBody>
      </p:sp>
      <p:sp>
        <p:nvSpPr>
          <p:cNvPr id="16" name="Shape 10"/>
          <p:cNvSpPr/>
          <p:nvPr/>
        </p:nvSpPr>
        <p:spPr>
          <a:xfrm>
            <a:off x="457200" y="3255264"/>
            <a:ext cx="4206240" cy="1005840"/>
          </a:xfrm>
          <a:prstGeom prst="roundRect">
            <a:avLst>
              <a:gd name="adj" fmla="val 7273"/>
            </a:avLst>
          </a:prstGeom>
          <a:solidFill>
            <a:srgbClr val="121C30"/>
          </a:solidFill>
          <a:ln w="12700">
            <a:solidFill>
              <a:srgbClr val="1F3150"/>
            </a:solidFill>
            <a:prstDash val="solid"/>
          </a:ln>
        </p:spPr>
      </p:sp>
      <p:sp>
        <p:nvSpPr>
          <p:cNvPr id="17" name="Shape 11"/>
          <p:cNvSpPr/>
          <p:nvPr/>
        </p:nvSpPr>
        <p:spPr>
          <a:xfrm>
            <a:off x="594360" y="3529584"/>
            <a:ext cx="457200" cy="457200"/>
          </a:xfrm>
          <a:prstGeom prst="ellipse">
            <a:avLst/>
          </a:prstGeom>
          <a:solidFill>
            <a:srgbClr val="0F2A3A"/>
          </a:solidFill>
          <a:ln w="12700">
            <a:solidFill>
              <a:srgbClr val="F87171"/>
            </a:solidFill>
            <a:prstDash val="solid"/>
          </a:ln>
        </p:spPr>
      </p:sp>
      <p:pic>
        <p:nvPicPr>
          <p:cNvPr id="18" name="Image 3" descr="preencoded.png"/>
          <p:cNvPicPr>
            <a:picLocks noChangeAspect="1"/>
          </p:cNvPicPr>
          <p:nvPr/>
        </p:nvPicPr>
        <p:blipFill>
          <a:blip r:embed="rId5"/>
          <a:stretch>
            <a:fillRect/>
          </a:stretch>
        </p:blipFill>
        <p:spPr>
          <a:xfrm>
            <a:off x="704088" y="3639312"/>
            <a:ext cx="237744" cy="237744"/>
          </a:xfrm>
          <a:prstGeom prst="rect">
            <a:avLst/>
          </a:prstGeom>
        </p:spPr>
      </p:pic>
      <p:sp>
        <p:nvSpPr>
          <p:cNvPr id="19" name="Text 12"/>
          <p:cNvSpPr txBox="1"/>
          <p:nvPr/>
        </p:nvSpPr>
        <p:spPr>
          <a:xfrm>
            <a:off x="1188720" y="3300984"/>
            <a:ext cx="333756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Why is it dangerous?</a:t>
            </a:r>
            <a:endParaRPr lang="en-US" sz="1500" dirty="0"/>
          </a:p>
        </p:txBody>
      </p:sp>
      <p:sp>
        <p:nvSpPr>
          <p:cNvPr id="20" name="Text 13"/>
          <p:cNvSpPr txBox="1"/>
          <p:nvPr/>
        </p:nvSpPr>
        <p:spPr>
          <a:xfrm>
            <a:off x="1188720" y="3584448"/>
            <a:ext cx="3337560" cy="640080"/>
          </a:xfrm>
          <a:prstGeom prst="rect">
            <a:avLst/>
          </a:prstGeom>
          <a:noFill/>
          <a:ln/>
        </p:spPr>
        <p:txBody>
          <a:bodyPr wrap="square" lIns="0" tIns="0" rIns="0" bIns="0" rtlCol="0" anchor="t"/>
          <a:lstStyle/>
          <a:p>
            <a:pPr marL="0" indent="0">
              <a:buNone/>
            </a:pPr>
            <a:r>
              <a:rPr lang="en-US" sz="1400" dirty="0">
                <a:solidFill>
                  <a:srgbClr val="E6EDF7"/>
                </a:solidFill>
                <a:latin typeface="Calibri" pitchFamily="34" charset="0"/>
                <a:ea typeface="Calibri" pitchFamily="34" charset="-122"/>
                <a:cs typeface="Calibri" pitchFamily="34" charset="-120"/>
              </a:rPr>
              <a:t>Until it is fixed, anyone who learns of it can take advantage. The company and its users bear the impact.</a:t>
            </a:r>
            <a:endParaRPr lang="en-US" sz="1400" dirty="0"/>
          </a:p>
        </p:txBody>
      </p:sp>
      <p:sp>
        <p:nvSpPr>
          <p:cNvPr id="21" name="Text 14"/>
          <p:cNvSpPr txBox="1"/>
          <p:nvPr/>
        </p:nvSpPr>
        <p:spPr>
          <a:xfrm>
            <a:off x="457200" y="4370832"/>
            <a:ext cx="4206240" cy="27432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No technical details are given in this presentation.</a:t>
            </a:r>
            <a:endParaRPr lang="en-US" sz="1200" dirty="0"/>
          </a:p>
        </p:txBody>
      </p:sp>
      <p:sp>
        <p:nvSpPr>
          <p:cNvPr id="22" name="Text 15"/>
          <p:cNvSpPr txBox="1"/>
          <p:nvPr/>
        </p:nvSpPr>
        <p:spPr>
          <a:xfrm>
            <a:off x="4846320" y="1097280"/>
            <a:ext cx="3840480" cy="274320"/>
          </a:xfrm>
          <a:prstGeom prst="rect">
            <a:avLst/>
          </a:prstGeom>
          <a:noFill/>
          <a:ln/>
        </p:spPr>
        <p:txBody>
          <a:bodyPr wrap="square" lIns="0" tIns="0" rIns="0" bIns="0" rtlCol="0" anchor="ctr"/>
          <a:lstStyle/>
          <a:p>
            <a:pPr marL="0" indent="0">
              <a:buNone/>
            </a:pPr>
            <a:r>
              <a:rPr lang="en-US" sz="1500" b="1" dirty="0">
                <a:solidFill>
                  <a:srgbClr val="F87171"/>
                </a:solidFill>
                <a:latin typeface="Calibri" pitchFamily="34" charset="0"/>
                <a:ea typeface="Calibri" pitchFamily="34" charset="-122"/>
                <a:cs typeface="Calibri" pitchFamily="34" charset="-120"/>
              </a:rPr>
              <a:t>If made public before a fix</a:t>
            </a:r>
            <a:endParaRPr lang="en-US" sz="1500" dirty="0"/>
          </a:p>
        </p:txBody>
      </p:sp>
      <p:sp>
        <p:nvSpPr>
          <p:cNvPr id="23" name="Shape 16"/>
          <p:cNvSpPr/>
          <p:nvPr/>
        </p:nvSpPr>
        <p:spPr>
          <a:xfrm>
            <a:off x="4846320" y="1444752"/>
            <a:ext cx="3840480" cy="457200"/>
          </a:xfrm>
          <a:prstGeom prst="roundRect">
            <a:avLst>
              <a:gd name="adj" fmla="val 16000"/>
            </a:avLst>
          </a:prstGeom>
          <a:solidFill>
            <a:srgbClr val="2A1620"/>
          </a:solidFill>
          <a:ln w="12700">
            <a:solidFill>
              <a:srgbClr val="5B2A35"/>
            </a:solidFill>
            <a:prstDash val="solid"/>
          </a:ln>
        </p:spPr>
      </p:sp>
      <p:sp>
        <p:nvSpPr>
          <p:cNvPr id="24" name="Shape 17"/>
          <p:cNvSpPr/>
          <p:nvPr/>
        </p:nvSpPr>
        <p:spPr>
          <a:xfrm>
            <a:off x="4937760" y="1517904"/>
            <a:ext cx="310896" cy="310896"/>
          </a:xfrm>
          <a:prstGeom prst="ellipse">
            <a:avLst/>
          </a:prstGeom>
          <a:solidFill>
            <a:srgbClr val="121C30"/>
          </a:solidFill>
          <a:ln w="12700">
            <a:solidFill>
              <a:srgbClr val="F87171"/>
            </a:solidFill>
            <a:prstDash val="solid"/>
          </a:ln>
        </p:spPr>
      </p:sp>
      <p:pic>
        <p:nvPicPr>
          <p:cNvPr id="25" name="Image 4" descr="preencoded.png"/>
          <p:cNvPicPr>
            <a:picLocks noChangeAspect="1"/>
          </p:cNvPicPr>
          <p:nvPr/>
        </p:nvPicPr>
        <p:blipFill>
          <a:blip r:embed="rId6"/>
          <a:stretch>
            <a:fillRect/>
          </a:stretch>
        </p:blipFill>
        <p:spPr>
          <a:xfrm>
            <a:off x="5012375" y="1592519"/>
            <a:ext cx="161666" cy="161666"/>
          </a:xfrm>
          <a:prstGeom prst="rect">
            <a:avLst/>
          </a:prstGeom>
        </p:spPr>
      </p:pic>
      <p:sp>
        <p:nvSpPr>
          <p:cNvPr id="26" name="Text 18"/>
          <p:cNvSpPr txBox="1"/>
          <p:nvPr/>
        </p:nvSpPr>
        <p:spPr>
          <a:xfrm>
            <a:off x="5349240" y="1444752"/>
            <a:ext cx="3246120" cy="457200"/>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Attackers learn of it before any fix exists.</a:t>
            </a:r>
            <a:endParaRPr lang="en-US" sz="1400" dirty="0"/>
          </a:p>
        </p:txBody>
      </p:sp>
      <p:sp>
        <p:nvSpPr>
          <p:cNvPr id="27" name="Shape 19"/>
          <p:cNvSpPr/>
          <p:nvPr/>
        </p:nvSpPr>
        <p:spPr>
          <a:xfrm>
            <a:off x="4846320" y="1947672"/>
            <a:ext cx="3840480" cy="457200"/>
          </a:xfrm>
          <a:prstGeom prst="roundRect">
            <a:avLst>
              <a:gd name="adj" fmla="val 16000"/>
            </a:avLst>
          </a:prstGeom>
          <a:solidFill>
            <a:srgbClr val="2A1620"/>
          </a:solidFill>
          <a:ln w="12700">
            <a:solidFill>
              <a:srgbClr val="5B2A35"/>
            </a:solidFill>
            <a:prstDash val="solid"/>
          </a:ln>
        </p:spPr>
      </p:sp>
      <p:sp>
        <p:nvSpPr>
          <p:cNvPr id="28" name="Shape 20"/>
          <p:cNvSpPr/>
          <p:nvPr/>
        </p:nvSpPr>
        <p:spPr>
          <a:xfrm>
            <a:off x="4937760" y="2020824"/>
            <a:ext cx="310896" cy="310896"/>
          </a:xfrm>
          <a:prstGeom prst="ellipse">
            <a:avLst/>
          </a:prstGeom>
          <a:solidFill>
            <a:srgbClr val="121C30"/>
          </a:solidFill>
          <a:ln w="12700">
            <a:solidFill>
              <a:srgbClr val="F87171"/>
            </a:solidFill>
            <a:prstDash val="solid"/>
          </a:ln>
        </p:spPr>
      </p:sp>
      <p:pic>
        <p:nvPicPr>
          <p:cNvPr id="29" name="Image 5" descr="preencoded.png"/>
          <p:cNvPicPr>
            <a:picLocks noChangeAspect="1"/>
          </p:cNvPicPr>
          <p:nvPr/>
        </p:nvPicPr>
        <p:blipFill>
          <a:blip r:embed="rId7"/>
          <a:stretch>
            <a:fillRect/>
          </a:stretch>
        </p:blipFill>
        <p:spPr>
          <a:xfrm>
            <a:off x="5012375" y="2095439"/>
            <a:ext cx="161666" cy="161666"/>
          </a:xfrm>
          <a:prstGeom prst="rect">
            <a:avLst/>
          </a:prstGeom>
        </p:spPr>
      </p:pic>
      <p:sp>
        <p:nvSpPr>
          <p:cNvPr id="30" name="Text 21"/>
          <p:cNvSpPr txBox="1"/>
          <p:nvPr/>
        </p:nvSpPr>
        <p:spPr>
          <a:xfrm>
            <a:off x="5349240" y="1947672"/>
            <a:ext cx="3246120" cy="457200"/>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Systems become targets for attacks.</a:t>
            </a:r>
            <a:endParaRPr lang="en-US" sz="1400" dirty="0"/>
          </a:p>
        </p:txBody>
      </p:sp>
      <p:sp>
        <p:nvSpPr>
          <p:cNvPr id="31" name="Shape 22"/>
          <p:cNvSpPr/>
          <p:nvPr/>
        </p:nvSpPr>
        <p:spPr>
          <a:xfrm>
            <a:off x="4846320" y="2450592"/>
            <a:ext cx="3840480" cy="457200"/>
          </a:xfrm>
          <a:prstGeom prst="roundRect">
            <a:avLst>
              <a:gd name="adj" fmla="val 16000"/>
            </a:avLst>
          </a:prstGeom>
          <a:solidFill>
            <a:srgbClr val="2A1620"/>
          </a:solidFill>
          <a:ln w="12700">
            <a:solidFill>
              <a:srgbClr val="5B2A35"/>
            </a:solidFill>
            <a:prstDash val="solid"/>
          </a:ln>
        </p:spPr>
      </p:sp>
      <p:sp>
        <p:nvSpPr>
          <p:cNvPr id="32" name="Shape 23"/>
          <p:cNvSpPr/>
          <p:nvPr/>
        </p:nvSpPr>
        <p:spPr>
          <a:xfrm>
            <a:off x="4937760" y="2523744"/>
            <a:ext cx="310896" cy="310896"/>
          </a:xfrm>
          <a:prstGeom prst="ellipse">
            <a:avLst/>
          </a:prstGeom>
          <a:solidFill>
            <a:srgbClr val="121C30"/>
          </a:solidFill>
          <a:ln w="12700">
            <a:solidFill>
              <a:srgbClr val="F87171"/>
            </a:solidFill>
            <a:prstDash val="solid"/>
          </a:ln>
        </p:spPr>
      </p:sp>
      <p:pic>
        <p:nvPicPr>
          <p:cNvPr id="33" name="Image 6" descr="preencoded.png"/>
          <p:cNvPicPr>
            <a:picLocks noChangeAspect="1"/>
          </p:cNvPicPr>
          <p:nvPr/>
        </p:nvPicPr>
        <p:blipFill>
          <a:blip r:embed="rId8"/>
          <a:stretch>
            <a:fillRect/>
          </a:stretch>
        </p:blipFill>
        <p:spPr>
          <a:xfrm>
            <a:off x="5012375" y="2598359"/>
            <a:ext cx="161666" cy="161666"/>
          </a:xfrm>
          <a:prstGeom prst="rect">
            <a:avLst/>
          </a:prstGeom>
        </p:spPr>
      </p:pic>
      <p:sp>
        <p:nvSpPr>
          <p:cNvPr id="34" name="Text 24"/>
          <p:cNvSpPr txBox="1"/>
          <p:nvPr/>
        </p:nvSpPr>
        <p:spPr>
          <a:xfrm>
            <a:off x="5349240" y="2450592"/>
            <a:ext cx="3246120" cy="457200"/>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User information could be exposed.</a:t>
            </a:r>
            <a:endParaRPr lang="en-US" sz="1400" dirty="0"/>
          </a:p>
        </p:txBody>
      </p:sp>
      <p:sp>
        <p:nvSpPr>
          <p:cNvPr id="35" name="Shape 25"/>
          <p:cNvSpPr/>
          <p:nvPr/>
        </p:nvSpPr>
        <p:spPr>
          <a:xfrm>
            <a:off x="4846320" y="2953512"/>
            <a:ext cx="3840480" cy="457200"/>
          </a:xfrm>
          <a:prstGeom prst="roundRect">
            <a:avLst>
              <a:gd name="adj" fmla="val 16000"/>
            </a:avLst>
          </a:prstGeom>
          <a:solidFill>
            <a:srgbClr val="2A1620"/>
          </a:solidFill>
          <a:ln w="12700">
            <a:solidFill>
              <a:srgbClr val="5B2A35"/>
            </a:solidFill>
            <a:prstDash val="solid"/>
          </a:ln>
        </p:spPr>
      </p:sp>
      <p:sp>
        <p:nvSpPr>
          <p:cNvPr id="36" name="Shape 26"/>
          <p:cNvSpPr/>
          <p:nvPr/>
        </p:nvSpPr>
        <p:spPr>
          <a:xfrm>
            <a:off x="4937760" y="3026664"/>
            <a:ext cx="310896" cy="310896"/>
          </a:xfrm>
          <a:prstGeom prst="ellipse">
            <a:avLst/>
          </a:prstGeom>
          <a:solidFill>
            <a:srgbClr val="121C30"/>
          </a:solidFill>
          <a:ln w="12700">
            <a:solidFill>
              <a:srgbClr val="F87171"/>
            </a:solidFill>
            <a:prstDash val="solid"/>
          </a:ln>
        </p:spPr>
      </p:sp>
      <p:pic>
        <p:nvPicPr>
          <p:cNvPr id="37" name="Image 7" descr="preencoded.png"/>
          <p:cNvPicPr>
            <a:picLocks noChangeAspect="1"/>
          </p:cNvPicPr>
          <p:nvPr/>
        </p:nvPicPr>
        <p:blipFill>
          <a:blip r:embed="rId9"/>
          <a:stretch>
            <a:fillRect/>
          </a:stretch>
        </p:blipFill>
        <p:spPr>
          <a:xfrm>
            <a:off x="5012375" y="3101279"/>
            <a:ext cx="161666" cy="161666"/>
          </a:xfrm>
          <a:prstGeom prst="rect">
            <a:avLst/>
          </a:prstGeom>
        </p:spPr>
      </p:pic>
      <p:sp>
        <p:nvSpPr>
          <p:cNvPr id="38" name="Text 27"/>
          <p:cNvSpPr txBox="1"/>
          <p:nvPr/>
        </p:nvSpPr>
        <p:spPr>
          <a:xfrm>
            <a:off x="5349240" y="2953512"/>
            <a:ext cx="3246120" cy="457200"/>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Company services could be disrupted.</a:t>
            </a:r>
            <a:endParaRPr lang="en-US" sz="1400" dirty="0"/>
          </a:p>
        </p:txBody>
      </p:sp>
      <p:sp>
        <p:nvSpPr>
          <p:cNvPr id="39" name="Shape 28"/>
          <p:cNvSpPr/>
          <p:nvPr/>
        </p:nvSpPr>
        <p:spPr>
          <a:xfrm>
            <a:off x="4846320" y="3456432"/>
            <a:ext cx="3840480" cy="457200"/>
          </a:xfrm>
          <a:prstGeom prst="roundRect">
            <a:avLst>
              <a:gd name="adj" fmla="val 16000"/>
            </a:avLst>
          </a:prstGeom>
          <a:solidFill>
            <a:srgbClr val="2A1620"/>
          </a:solidFill>
          <a:ln w="12700">
            <a:solidFill>
              <a:srgbClr val="5B2A35"/>
            </a:solidFill>
            <a:prstDash val="solid"/>
          </a:ln>
        </p:spPr>
      </p:sp>
      <p:sp>
        <p:nvSpPr>
          <p:cNvPr id="40" name="Shape 29"/>
          <p:cNvSpPr/>
          <p:nvPr/>
        </p:nvSpPr>
        <p:spPr>
          <a:xfrm>
            <a:off x="4937760" y="3529584"/>
            <a:ext cx="310896" cy="310896"/>
          </a:xfrm>
          <a:prstGeom prst="ellipse">
            <a:avLst/>
          </a:prstGeom>
          <a:solidFill>
            <a:srgbClr val="121C30"/>
          </a:solidFill>
          <a:ln w="12700">
            <a:solidFill>
              <a:srgbClr val="F87171"/>
            </a:solidFill>
            <a:prstDash val="solid"/>
          </a:ln>
        </p:spPr>
      </p:sp>
      <p:pic>
        <p:nvPicPr>
          <p:cNvPr id="41" name="Image 8" descr="preencoded.png"/>
          <p:cNvPicPr>
            <a:picLocks noChangeAspect="1"/>
          </p:cNvPicPr>
          <p:nvPr/>
        </p:nvPicPr>
        <p:blipFill>
          <a:blip r:embed="rId10"/>
          <a:stretch>
            <a:fillRect/>
          </a:stretch>
        </p:blipFill>
        <p:spPr>
          <a:xfrm>
            <a:off x="5012375" y="3604199"/>
            <a:ext cx="161666" cy="161666"/>
          </a:xfrm>
          <a:prstGeom prst="rect">
            <a:avLst/>
          </a:prstGeom>
        </p:spPr>
      </p:pic>
      <p:sp>
        <p:nvSpPr>
          <p:cNvPr id="42" name="Text 30"/>
          <p:cNvSpPr txBox="1"/>
          <p:nvPr/>
        </p:nvSpPr>
        <p:spPr>
          <a:xfrm>
            <a:off x="5349240" y="3456432"/>
            <a:ext cx="3246120" cy="457200"/>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Financial losses may occur.</a:t>
            </a:r>
            <a:endParaRPr lang="en-US" sz="1400" dirty="0"/>
          </a:p>
        </p:txBody>
      </p:sp>
      <p:sp>
        <p:nvSpPr>
          <p:cNvPr id="43" name="Shape 31"/>
          <p:cNvSpPr/>
          <p:nvPr/>
        </p:nvSpPr>
        <p:spPr>
          <a:xfrm>
            <a:off x="4846320" y="3959352"/>
            <a:ext cx="3840480" cy="457200"/>
          </a:xfrm>
          <a:prstGeom prst="roundRect">
            <a:avLst>
              <a:gd name="adj" fmla="val 16000"/>
            </a:avLst>
          </a:prstGeom>
          <a:solidFill>
            <a:srgbClr val="2A1620"/>
          </a:solidFill>
          <a:ln w="12700">
            <a:solidFill>
              <a:srgbClr val="5B2A35"/>
            </a:solidFill>
            <a:prstDash val="solid"/>
          </a:ln>
        </p:spPr>
      </p:sp>
      <p:sp>
        <p:nvSpPr>
          <p:cNvPr id="44" name="Shape 32"/>
          <p:cNvSpPr/>
          <p:nvPr/>
        </p:nvSpPr>
        <p:spPr>
          <a:xfrm>
            <a:off x="4937760" y="4032504"/>
            <a:ext cx="310896" cy="310896"/>
          </a:xfrm>
          <a:prstGeom prst="ellipse">
            <a:avLst/>
          </a:prstGeom>
          <a:solidFill>
            <a:srgbClr val="121C30"/>
          </a:solidFill>
          <a:ln w="12700">
            <a:solidFill>
              <a:srgbClr val="F87171"/>
            </a:solidFill>
            <a:prstDash val="solid"/>
          </a:ln>
        </p:spPr>
      </p:sp>
      <p:pic>
        <p:nvPicPr>
          <p:cNvPr id="45" name="Image 9" descr="preencoded.png"/>
          <p:cNvPicPr>
            <a:picLocks noChangeAspect="1"/>
          </p:cNvPicPr>
          <p:nvPr/>
        </p:nvPicPr>
        <p:blipFill>
          <a:blip r:embed="rId11"/>
          <a:stretch>
            <a:fillRect/>
          </a:stretch>
        </p:blipFill>
        <p:spPr>
          <a:xfrm>
            <a:off x="5012375" y="4107119"/>
            <a:ext cx="161666" cy="161666"/>
          </a:xfrm>
          <a:prstGeom prst="rect">
            <a:avLst/>
          </a:prstGeom>
        </p:spPr>
      </p:pic>
      <p:sp>
        <p:nvSpPr>
          <p:cNvPr id="46" name="Text 33"/>
          <p:cNvSpPr txBox="1"/>
          <p:nvPr/>
        </p:nvSpPr>
        <p:spPr>
          <a:xfrm>
            <a:off x="5349240" y="3959352"/>
            <a:ext cx="3246120" cy="457200"/>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Reputation may be damaged.</a:t>
            </a:r>
            <a:endParaRPr lang="en-US" sz="1400" dirty="0"/>
          </a:p>
        </p:txBody>
      </p:sp>
      <p:sp>
        <p:nvSpPr>
          <p:cNvPr id="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0F2A3A"/>
          </a:solidFill>
          <a:ln w="12700">
            <a:solidFill>
              <a:srgbClr val="22D3EE"/>
            </a:solidFill>
            <a:prstDash val="solid"/>
          </a:ln>
        </p:spPr>
      </p:sp>
      <p:pic>
        <p:nvPicPr>
          <p:cNvPr id="3" name="Image 0" descr="preencoded.png"/>
          <p:cNvPicPr>
            <a:picLocks noChangeAspect="1"/>
          </p:cNvPicPr>
          <p:nvPr/>
        </p:nvPicPr>
        <p:blipFill>
          <a:blip r:embed="rId3"/>
          <a:stretch>
            <a:fillRect/>
          </a:stretch>
        </p:blipFill>
        <p:spPr>
          <a:xfrm>
            <a:off x="588874" y="451714"/>
            <a:ext cx="285293" cy="285293"/>
          </a:xfrm>
          <a:prstGeom prst="rect">
            <a:avLst/>
          </a:prstGeom>
        </p:spPr>
      </p:pic>
      <p:sp>
        <p:nvSpPr>
          <p:cNvPr id="4" name="Text 1"/>
          <p:cNvSpPr txBox="1"/>
          <p:nvPr/>
        </p:nvSpPr>
        <p:spPr>
          <a:xfrm>
            <a:off x="1188720" y="320040"/>
            <a:ext cx="749808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Disclosure and Bug-Bounty Programs</a:t>
            </a:r>
            <a:endParaRPr lang="en-US" sz="2800" dirty="0"/>
          </a:p>
        </p:txBody>
      </p:sp>
      <p:sp>
        <p:nvSpPr>
          <p:cNvPr id="6" name="Shape 2"/>
          <p:cNvSpPr/>
          <p:nvPr/>
        </p:nvSpPr>
        <p:spPr>
          <a:xfrm>
            <a:off x="731520" y="1371600"/>
            <a:ext cx="0" cy="3108960"/>
          </a:xfrm>
          <a:prstGeom prst="line">
            <a:avLst/>
          </a:prstGeom>
          <a:noFill/>
          <a:ln w="25400">
            <a:solidFill>
              <a:srgbClr val="22D3EE"/>
            </a:solidFill>
            <a:prstDash val="solid"/>
          </a:ln>
        </p:spPr>
      </p:sp>
      <p:sp>
        <p:nvSpPr>
          <p:cNvPr id="7" name="Shape 3"/>
          <p:cNvSpPr/>
          <p:nvPr/>
        </p:nvSpPr>
        <p:spPr>
          <a:xfrm>
            <a:off x="457200" y="1097280"/>
            <a:ext cx="3383280" cy="475488"/>
          </a:xfrm>
          <a:prstGeom prst="roundRect">
            <a:avLst>
              <a:gd name="adj" fmla="val 15385"/>
            </a:avLst>
          </a:prstGeom>
          <a:solidFill>
            <a:srgbClr val="121C30"/>
          </a:solidFill>
          <a:ln w="12700">
            <a:solidFill>
              <a:srgbClr val="1F3150"/>
            </a:solidFill>
            <a:prstDash val="solid"/>
          </a:ln>
        </p:spPr>
      </p:sp>
      <p:sp>
        <p:nvSpPr>
          <p:cNvPr id="8" name="Shape 4"/>
          <p:cNvSpPr/>
          <p:nvPr/>
        </p:nvSpPr>
        <p:spPr>
          <a:xfrm>
            <a:off x="566928" y="1170432"/>
            <a:ext cx="329184" cy="329184"/>
          </a:xfrm>
          <a:prstGeom prst="ellipse">
            <a:avLst/>
          </a:prstGeom>
          <a:solidFill>
            <a:srgbClr val="22D3EE"/>
          </a:solidFill>
          <a:ln w="12700">
            <a:solidFill>
              <a:srgbClr val="0B1220"/>
            </a:solidFill>
            <a:prstDash val="solid"/>
          </a:ln>
        </p:spPr>
      </p:sp>
      <p:sp>
        <p:nvSpPr>
          <p:cNvPr id="9" name="Text 5"/>
          <p:cNvSpPr txBox="1"/>
          <p:nvPr/>
        </p:nvSpPr>
        <p:spPr>
          <a:xfrm>
            <a:off x="566928" y="1170432"/>
            <a:ext cx="329184" cy="329184"/>
          </a:xfrm>
          <a:prstGeom prst="rect">
            <a:avLst/>
          </a:prstGeom>
          <a:noFill/>
          <a:ln/>
        </p:spPr>
        <p:txBody>
          <a:bodyPr wrap="square" lIns="0" tIns="0" rIns="0" bIns="0"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51560" y="1097280"/>
            <a:ext cx="2743200" cy="475488"/>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Discover vulnerability</a:t>
            </a:r>
            <a:endParaRPr lang="en-US" sz="1400" dirty="0"/>
          </a:p>
        </p:txBody>
      </p:sp>
      <p:sp>
        <p:nvSpPr>
          <p:cNvPr id="11" name="Shape 7"/>
          <p:cNvSpPr/>
          <p:nvPr/>
        </p:nvSpPr>
        <p:spPr>
          <a:xfrm>
            <a:off x="457200" y="1700784"/>
            <a:ext cx="3383280" cy="475488"/>
          </a:xfrm>
          <a:prstGeom prst="roundRect">
            <a:avLst>
              <a:gd name="adj" fmla="val 15385"/>
            </a:avLst>
          </a:prstGeom>
          <a:solidFill>
            <a:srgbClr val="121C30"/>
          </a:solidFill>
          <a:ln w="12700">
            <a:solidFill>
              <a:srgbClr val="1F3150"/>
            </a:solidFill>
            <a:prstDash val="solid"/>
          </a:ln>
        </p:spPr>
      </p:sp>
      <p:sp>
        <p:nvSpPr>
          <p:cNvPr id="12" name="Shape 8"/>
          <p:cNvSpPr/>
          <p:nvPr/>
        </p:nvSpPr>
        <p:spPr>
          <a:xfrm>
            <a:off x="566928" y="1773936"/>
            <a:ext cx="329184" cy="329184"/>
          </a:xfrm>
          <a:prstGeom prst="ellipse">
            <a:avLst/>
          </a:prstGeom>
          <a:solidFill>
            <a:srgbClr val="22D3EE"/>
          </a:solidFill>
          <a:ln w="12700">
            <a:solidFill>
              <a:srgbClr val="0B1220"/>
            </a:solidFill>
            <a:prstDash val="solid"/>
          </a:ln>
        </p:spPr>
      </p:sp>
      <p:sp>
        <p:nvSpPr>
          <p:cNvPr id="13" name="Text 9"/>
          <p:cNvSpPr txBox="1"/>
          <p:nvPr/>
        </p:nvSpPr>
        <p:spPr>
          <a:xfrm>
            <a:off x="566928" y="1773936"/>
            <a:ext cx="329184" cy="329184"/>
          </a:xfrm>
          <a:prstGeom prst="rect">
            <a:avLst/>
          </a:prstGeom>
          <a:noFill/>
          <a:ln/>
        </p:spPr>
        <p:txBody>
          <a:bodyPr wrap="square" lIns="0" tIns="0" rIns="0" bIns="0"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2</a:t>
            </a:r>
            <a:endParaRPr lang="en-US" sz="1400" dirty="0"/>
          </a:p>
        </p:txBody>
      </p:sp>
      <p:sp>
        <p:nvSpPr>
          <p:cNvPr id="14" name="Text 10"/>
          <p:cNvSpPr txBox="1"/>
          <p:nvPr/>
        </p:nvSpPr>
        <p:spPr>
          <a:xfrm>
            <a:off x="1051560" y="1700784"/>
            <a:ext cx="2743200" cy="475488"/>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Verify the issue</a:t>
            </a:r>
            <a:endParaRPr lang="en-US" sz="1400" dirty="0"/>
          </a:p>
        </p:txBody>
      </p:sp>
      <p:sp>
        <p:nvSpPr>
          <p:cNvPr id="15" name="Shape 11"/>
          <p:cNvSpPr/>
          <p:nvPr/>
        </p:nvSpPr>
        <p:spPr>
          <a:xfrm>
            <a:off x="457200" y="2304288"/>
            <a:ext cx="3383280" cy="475488"/>
          </a:xfrm>
          <a:prstGeom prst="roundRect">
            <a:avLst>
              <a:gd name="adj" fmla="val 15385"/>
            </a:avLst>
          </a:prstGeom>
          <a:solidFill>
            <a:srgbClr val="121C30"/>
          </a:solidFill>
          <a:ln w="12700">
            <a:solidFill>
              <a:srgbClr val="1F3150"/>
            </a:solidFill>
            <a:prstDash val="solid"/>
          </a:ln>
        </p:spPr>
      </p:sp>
      <p:sp>
        <p:nvSpPr>
          <p:cNvPr id="16" name="Shape 12"/>
          <p:cNvSpPr/>
          <p:nvPr/>
        </p:nvSpPr>
        <p:spPr>
          <a:xfrm>
            <a:off x="566928" y="2377440"/>
            <a:ext cx="329184" cy="329184"/>
          </a:xfrm>
          <a:prstGeom prst="ellipse">
            <a:avLst/>
          </a:prstGeom>
          <a:solidFill>
            <a:srgbClr val="22D3EE"/>
          </a:solidFill>
          <a:ln w="12700">
            <a:solidFill>
              <a:srgbClr val="0B1220"/>
            </a:solidFill>
            <a:prstDash val="solid"/>
          </a:ln>
        </p:spPr>
      </p:sp>
      <p:sp>
        <p:nvSpPr>
          <p:cNvPr id="17" name="Text 13"/>
          <p:cNvSpPr txBox="1"/>
          <p:nvPr/>
        </p:nvSpPr>
        <p:spPr>
          <a:xfrm>
            <a:off x="566928" y="2377440"/>
            <a:ext cx="329184" cy="329184"/>
          </a:xfrm>
          <a:prstGeom prst="rect">
            <a:avLst/>
          </a:prstGeom>
          <a:noFill/>
          <a:ln/>
        </p:spPr>
        <p:txBody>
          <a:bodyPr wrap="square" lIns="0" tIns="0" rIns="0" bIns="0"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3</a:t>
            </a:r>
            <a:endParaRPr lang="en-US" sz="1400" dirty="0"/>
          </a:p>
        </p:txBody>
      </p:sp>
      <p:sp>
        <p:nvSpPr>
          <p:cNvPr id="18" name="Text 14"/>
          <p:cNvSpPr txBox="1"/>
          <p:nvPr/>
        </p:nvSpPr>
        <p:spPr>
          <a:xfrm>
            <a:off x="1051560" y="2304288"/>
            <a:ext cx="2743200" cy="475488"/>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Report to organization</a:t>
            </a:r>
            <a:endParaRPr lang="en-US" sz="1400" dirty="0"/>
          </a:p>
        </p:txBody>
      </p:sp>
      <p:sp>
        <p:nvSpPr>
          <p:cNvPr id="19" name="Shape 15"/>
          <p:cNvSpPr/>
          <p:nvPr/>
        </p:nvSpPr>
        <p:spPr>
          <a:xfrm>
            <a:off x="457200" y="2907792"/>
            <a:ext cx="3383280" cy="475488"/>
          </a:xfrm>
          <a:prstGeom prst="roundRect">
            <a:avLst>
              <a:gd name="adj" fmla="val 15385"/>
            </a:avLst>
          </a:prstGeom>
          <a:solidFill>
            <a:srgbClr val="121C30"/>
          </a:solidFill>
          <a:ln w="12700">
            <a:solidFill>
              <a:srgbClr val="1F3150"/>
            </a:solidFill>
            <a:prstDash val="solid"/>
          </a:ln>
        </p:spPr>
      </p:sp>
      <p:sp>
        <p:nvSpPr>
          <p:cNvPr id="20" name="Shape 16"/>
          <p:cNvSpPr/>
          <p:nvPr/>
        </p:nvSpPr>
        <p:spPr>
          <a:xfrm>
            <a:off x="566928" y="2980944"/>
            <a:ext cx="329184" cy="329184"/>
          </a:xfrm>
          <a:prstGeom prst="ellipse">
            <a:avLst/>
          </a:prstGeom>
          <a:solidFill>
            <a:srgbClr val="22D3EE"/>
          </a:solidFill>
          <a:ln w="12700">
            <a:solidFill>
              <a:srgbClr val="0B1220"/>
            </a:solidFill>
            <a:prstDash val="solid"/>
          </a:ln>
        </p:spPr>
      </p:sp>
      <p:sp>
        <p:nvSpPr>
          <p:cNvPr id="21" name="Text 17"/>
          <p:cNvSpPr txBox="1"/>
          <p:nvPr/>
        </p:nvSpPr>
        <p:spPr>
          <a:xfrm>
            <a:off x="566928" y="2980944"/>
            <a:ext cx="329184" cy="329184"/>
          </a:xfrm>
          <a:prstGeom prst="rect">
            <a:avLst/>
          </a:prstGeom>
          <a:noFill/>
          <a:ln/>
        </p:spPr>
        <p:txBody>
          <a:bodyPr wrap="square" lIns="0" tIns="0" rIns="0" bIns="0"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4</a:t>
            </a:r>
            <a:endParaRPr lang="en-US" sz="1400" dirty="0"/>
          </a:p>
        </p:txBody>
      </p:sp>
      <p:sp>
        <p:nvSpPr>
          <p:cNvPr id="22" name="Text 18"/>
          <p:cNvSpPr txBox="1"/>
          <p:nvPr/>
        </p:nvSpPr>
        <p:spPr>
          <a:xfrm>
            <a:off x="1051560" y="2907792"/>
            <a:ext cx="2743200" cy="475488"/>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Organization investigates</a:t>
            </a:r>
            <a:endParaRPr lang="en-US" sz="1400" dirty="0"/>
          </a:p>
        </p:txBody>
      </p:sp>
      <p:sp>
        <p:nvSpPr>
          <p:cNvPr id="23" name="Shape 19"/>
          <p:cNvSpPr/>
          <p:nvPr/>
        </p:nvSpPr>
        <p:spPr>
          <a:xfrm>
            <a:off x="457200" y="3511296"/>
            <a:ext cx="3383280" cy="475488"/>
          </a:xfrm>
          <a:prstGeom prst="roundRect">
            <a:avLst>
              <a:gd name="adj" fmla="val 15385"/>
            </a:avLst>
          </a:prstGeom>
          <a:solidFill>
            <a:srgbClr val="121C30"/>
          </a:solidFill>
          <a:ln w="12700">
            <a:solidFill>
              <a:srgbClr val="1F3150"/>
            </a:solidFill>
            <a:prstDash val="solid"/>
          </a:ln>
        </p:spPr>
      </p:sp>
      <p:sp>
        <p:nvSpPr>
          <p:cNvPr id="24" name="Shape 20"/>
          <p:cNvSpPr/>
          <p:nvPr/>
        </p:nvSpPr>
        <p:spPr>
          <a:xfrm>
            <a:off x="566928" y="3584448"/>
            <a:ext cx="329184" cy="329184"/>
          </a:xfrm>
          <a:prstGeom prst="ellipse">
            <a:avLst/>
          </a:prstGeom>
          <a:solidFill>
            <a:srgbClr val="22D3EE"/>
          </a:solidFill>
          <a:ln w="12700">
            <a:solidFill>
              <a:srgbClr val="0B1220"/>
            </a:solidFill>
            <a:prstDash val="solid"/>
          </a:ln>
        </p:spPr>
      </p:sp>
      <p:sp>
        <p:nvSpPr>
          <p:cNvPr id="25" name="Text 21"/>
          <p:cNvSpPr txBox="1"/>
          <p:nvPr/>
        </p:nvSpPr>
        <p:spPr>
          <a:xfrm>
            <a:off x="566928" y="3584448"/>
            <a:ext cx="329184" cy="329184"/>
          </a:xfrm>
          <a:prstGeom prst="rect">
            <a:avLst/>
          </a:prstGeom>
          <a:noFill/>
          <a:ln/>
        </p:spPr>
        <p:txBody>
          <a:bodyPr wrap="square" lIns="0" tIns="0" rIns="0" bIns="0"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5</a:t>
            </a:r>
            <a:endParaRPr lang="en-US" sz="1400" dirty="0"/>
          </a:p>
        </p:txBody>
      </p:sp>
      <p:sp>
        <p:nvSpPr>
          <p:cNvPr id="26" name="Text 22"/>
          <p:cNvSpPr txBox="1"/>
          <p:nvPr/>
        </p:nvSpPr>
        <p:spPr>
          <a:xfrm>
            <a:off x="1051560" y="3511296"/>
            <a:ext cx="2743200" cy="475488"/>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Vulnerability is fixed</a:t>
            </a:r>
            <a:endParaRPr lang="en-US" sz="1400" dirty="0"/>
          </a:p>
        </p:txBody>
      </p:sp>
      <p:sp>
        <p:nvSpPr>
          <p:cNvPr id="27" name="Shape 23"/>
          <p:cNvSpPr/>
          <p:nvPr/>
        </p:nvSpPr>
        <p:spPr>
          <a:xfrm>
            <a:off x="457200" y="4114800"/>
            <a:ext cx="3383280" cy="475488"/>
          </a:xfrm>
          <a:prstGeom prst="roundRect">
            <a:avLst>
              <a:gd name="adj" fmla="val 15385"/>
            </a:avLst>
          </a:prstGeom>
          <a:solidFill>
            <a:srgbClr val="121C30"/>
          </a:solidFill>
          <a:ln w="12700">
            <a:solidFill>
              <a:srgbClr val="34D399"/>
            </a:solidFill>
            <a:prstDash val="solid"/>
          </a:ln>
        </p:spPr>
      </p:sp>
      <p:sp>
        <p:nvSpPr>
          <p:cNvPr id="28" name="Shape 24"/>
          <p:cNvSpPr/>
          <p:nvPr/>
        </p:nvSpPr>
        <p:spPr>
          <a:xfrm>
            <a:off x="566928" y="4187952"/>
            <a:ext cx="329184" cy="329184"/>
          </a:xfrm>
          <a:prstGeom prst="ellipse">
            <a:avLst/>
          </a:prstGeom>
          <a:solidFill>
            <a:srgbClr val="34D399"/>
          </a:solidFill>
          <a:ln w="12700">
            <a:solidFill>
              <a:srgbClr val="0B1220"/>
            </a:solidFill>
            <a:prstDash val="solid"/>
          </a:ln>
        </p:spPr>
      </p:sp>
      <p:sp>
        <p:nvSpPr>
          <p:cNvPr id="29" name="Text 25"/>
          <p:cNvSpPr txBox="1"/>
          <p:nvPr/>
        </p:nvSpPr>
        <p:spPr>
          <a:xfrm>
            <a:off x="566928" y="4187952"/>
            <a:ext cx="329184" cy="329184"/>
          </a:xfrm>
          <a:prstGeom prst="rect">
            <a:avLst/>
          </a:prstGeom>
          <a:noFill/>
          <a:ln/>
        </p:spPr>
        <p:txBody>
          <a:bodyPr wrap="square" lIns="0" tIns="0" rIns="0" bIns="0"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6</a:t>
            </a:r>
            <a:endParaRPr lang="en-US" sz="1400" dirty="0"/>
          </a:p>
        </p:txBody>
      </p:sp>
      <p:sp>
        <p:nvSpPr>
          <p:cNvPr id="30" name="Text 26"/>
          <p:cNvSpPr txBox="1"/>
          <p:nvPr/>
        </p:nvSpPr>
        <p:spPr>
          <a:xfrm>
            <a:off x="1051560" y="4114800"/>
            <a:ext cx="2743200" cy="475488"/>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Appropriate public disclosure</a:t>
            </a:r>
            <a:endParaRPr lang="en-US" sz="1400" dirty="0"/>
          </a:p>
        </p:txBody>
      </p:sp>
      <p:sp>
        <p:nvSpPr>
          <p:cNvPr id="31" name="Shape 27"/>
          <p:cNvSpPr/>
          <p:nvPr/>
        </p:nvSpPr>
        <p:spPr>
          <a:xfrm>
            <a:off x="4069080" y="1097280"/>
            <a:ext cx="4617720" cy="1737360"/>
          </a:xfrm>
          <a:prstGeom prst="roundRect">
            <a:avLst>
              <a:gd name="adj" fmla="val 4211"/>
            </a:avLst>
          </a:prstGeom>
          <a:solidFill>
            <a:srgbClr val="0F2A3A"/>
          </a:solidFill>
          <a:ln w="12700">
            <a:solidFill>
              <a:srgbClr val="22D3EE"/>
            </a:solidFill>
            <a:prstDash val="solid"/>
          </a:ln>
        </p:spPr>
      </p:sp>
      <p:sp>
        <p:nvSpPr>
          <p:cNvPr id="32" name="Text 28"/>
          <p:cNvSpPr txBox="1"/>
          <p:nvPr/>
        </p:nvSpPr>
        <p:spPr>
          <a:xfrm>
            <a:off x="4251960" y="1152144"/>
            <a:ext cx="4206240" cy="27432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Disclosure styles</a:t>
            </a:r>
            <a:endParaRPr lang="en-US" sz="1500" dirty="0"/>
          </a:p>
        </p:txBody>
      </p:sp>
      <p:sp>
        <p:nvSpPr>
          <p:cNvPr id="33" name="Text 29"/>
          <p:cNvSpPr txBox="1"/>
          <p:nvPr/>
        </p:nvSpPr>
        <p:spPr>
          <a:xfrm>
            <a:off x="4251960" y="1481328"/>
            <a:ext cx="429768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Why report: </a:t>
            </a:r>
            <a:r>
              <a:rPr lang="en-US" sz="1400" dirty="0">
                <a:solidFill>
                  <a:srgbClr val="E6EDF7"/>
                </a:solidFill>
                <a:latin typeface="Calibri" pitchFamily="34" charset="0"/>
                <a:ea typeface="Calibri" pitchFamily="34" charset="-122"/>
                <a:cs typeface="Calibri" pitchFamily="34" charset="-120"/>
              </a:rPr>
              <a:t>owners cannot fix unknown flaws.</a:t>
            </a:r>
            <a:endParaRPr lang="en-US" sz="1400" dirty="0"/>
          </a:p>
        </p:txBody>
      </p:sp>
      <p:sp>
        <p:nvSpPr>
          <p:cNvPr id="34" name="Text 30"/>
          <p:cNvSpPr txBox="1"/>
          <p:nvPr/>
        </p:nvSpPr>
        <p:spPr>
          <a:xfrm>
            <a:off x="4251960" y="1810512"/>
            <a:ext cx="429768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Private: </a:t>
            </a:r>
            <a:r>
              <a:rPr lang="en-US" sz="1400" dirty="0">
                <a:solidFill>
                  <a:srgbClr val="E6EDF7"/>
                </a:solidFill>
                <a:latin typeface="Calibri" pitchFamily="34" charset="0"/>
                <a:ea typeface="Calibri" pitchFamily="34" charset="-122"/>
                <a:cs typeface="Calibri" pitchFamily="34" charset="-120"/>
              </a:rPr>
              <a:t>only the organization is told.</a:t>
            </a:r>
            <a:endParaRPr lang="en-US" sz="1400" dirty="0"/>
          </a:p>
        </p:txBody>
      </p:sp>
      <p:sp>
        <p:nvSpPr>
          <p:cNvPr id="35" name="Text 31"/>
          <p:cNvSpPr txBox="1"/>
          <p:nvPr/>
        </p:nvSpPr>
        <p:spPr>
          <a:xfrm>
            <a:off x="4251960" y="2139696"/>
            <a:ext cx="429768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Coordinated: </a:t>
            </a:r>
            <a:r>
              <a:rPr lang="en-US" sz="1400" dirty="0">
                <a:solidFill>
                  <a:srgbClr val="E6EDF7"/>
                </a:solidFill>
                <a:latin typeface="Calibri" pitchFamily="34" charset="0"/>
                <a:ea typeface="Calibri" pitchFamily="34" charset="-122"/>
                <a:cs typeface="Calibri" pitchFamily="34" charset="-120"/>
              </a:rPr>
              <a:t>both sides agree on timing.</a:t>
            </a:r>
            <a:endParaRPr lang="en-US" sz="1400" dirty="0"/>
          </a:p>
        </p:txBody>
      </p:sp>
      <p:sp>
        <p:nvSpPr>
          <p:cNvPr id="36" name="Text 32"/>
          <p:cNvSpPr txBox="1"/>
          <p:nvPr/>
        </p:nvSpPr>
        <p:spPr>
          <a:xfrm>
            <a:off x="4251960" y="2468880"/>
            <a:ext cx="429768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Public: </a:t>
            </a:r>
            <a:r>
              <a:rPr lang="en-US" sz="1400" dirty="0">
                <a:solidFill>
                  <a:srgbClr val="E6EDF7"/>
                </a:solidFill>
                <a:latin typeface="Calibri" pitchFamily="34" charset="0"/>
                <a:ea typeface="Calibri" pitchFamily="34" charset="-122"/>
                <a:cs typeface="Calibri" pitchFamily="34" charset="-120"/>
              </a:rPr>
              <a:t>shared openly, safest after a fix.</a:t>
            </a:r>
            <a:endParaRPr lang="en-US" sz="1400" dirty="0"/>
          </a:p>
        </p:txBody>
      </p:sp>
      <p:sp>
        <p:nvSpPr>
          <p:cNvPr id="37" name="Shape 33"/>
          <p:cNvSpPr/>
          <p:nvPr/>
        </p:nvSpPr>
        <p:spPr>
          <a:xfrm>
            <a:off x="4069080" y="2971800"/>
            <a:ext cx="4617720" cy="1645920"/>
          </a:xfrm>
          <a:prstGeom prst="roundRect">
            <a:avLst>
              <a:gd name="adj" fmla="val 4444"/>
            </a:avLst>
          </a:prstGeom>
          <a:solidFill>
            <a:srgbClr val="0F2A3A"/>
          </a:solidFill>
          <a:ln w="12700">
            <a:solidFill>
              <a:srgbClr val="FBBF24"/>
            </a:solidFill>
            <a:prstDash val="solid"/>
          </a:ln>
        </p:spPr>
      </p:sp>
      <p:sp>
        <p:nvSpPr>
          <p:cNvPr id="38" name="Text 34"/>
          <p:cNvSpPr txBox="1"/>
          <p:nvPr/>
        </p:nvSpPr>
        <p:spPr>
          <a:xfrm>
            <a:off x="4251960" y="3026664"/>
            <a:ext cx="4206240" cy="274320"/>
          </a:xfrm>
          <a:prstGeom prst="rect">
            <a:avLst/>
          </a:prstGeom>
          <a:noFill/>
          <a:ln/>
        </p:spPr>
        <p:txBody>
          <a:bodyPr wrap="square" lIns="0" tIns="0" rIns="0" bIns="0" rtlCol="0" anchor="ctr"/>
          <a:lstStyle/>
          <a:p>
            <a:pPr marL="0" indent="0">
              <a:buNone/>
            </a:pPr>
            <a:r>
              <a:rPr lang="en-US" sz="1500" b="1" dirty="0">
                <a:solidFill>
                  <a:srgbClr val="FBBF24"/>
                </a:solidFill>
                <a:latin typeface="Calibri" pitchFamily="34" charset="0"/>
                <a:ea typeface="Calibri" pitchFamily="34" charset="-122"/>
                <a:cs typeface="Calibri" pitchFamily="34" charset="-120"/>
              </a:rPr>
              <a:t>Bug-bounty programs</a:t>
            </a:r>
            <a:endParaRPr lang="en-US" sz="1500" dirty="0"/>
          </a:p>
        </p:txBody>
      </p:sp>
      <p:sp>
        <p:nvSpPr>
          <p:cNvPr id="39" name="Text 35"/>
          <p:cNvSpPr txBox="1"/>
          <p:nvPr/>
        </p:nvSpPr>
        <p:spPr>
          <a:xfrm>
            <a:off x="4251960" y="3355848"/>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Why: </a:t>
            </a:r>
            <a:r>
              <a:rPr lang="en-US" sz="1400" dirty="0">
                <a:solidFill>
                  <a:srgbClr val="E6EDF7"/>
                </a:solidFill>
                <a:latin typeface="Calibri" pitchFamily="34" charset="0"/>
                <a:ea typeface="Calibri" pitchFamily="34" charset="-122"/>
                <a:cs typeface="Calibri" pitchFamily="34" charset="-120"/>
              </a:rPr>
              <a:t>companies get expert help finding flaws.</a:t>
            </a:r>
            <a:endParaRPr lang="en-US" sz="1400" dirty="0"/>
          </a:p>
        </p:txBody>
      </p:sp>
      <p:sp>
        <p:nvSpPr>
          <p:cNvPr id="40" name="Text 36"/>
          <p:cNvSpPr txBox="1"/>
          <p:nvPr/>
        </p:nvSpPr>
        <p:spPr>
          <a:xfrm>
            <a:off x="4251960" y="3657600"/>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How: </a:t>
            </a:r>
            <a:r>
              <a:rPr lang="en-US" sz="1400" dirty="0">
                <a:solidFill>
                  <a:srgbClr val="E6EDF7"/>
                </a:solidFill>
                <a:latin typeface="Calibri" pitchFamily="34" charset="0"/>
                <a:ea typeface="Calibri" pitchFamily="34" charset="-122"/>
                <a:cs typeface="Calibri" pitchFamily="34" charset="-120"/>
              </a:rPr>
              <a:t>report through the official page.</a:t>
            </a:r>
            <a:endParaRPr lang="en-US" sz="1400" dirty="0"/>
          </a:p>
        </p:txBody>
      </p:sp>
      <p:sp>
        <p:nvSpPr>
          <p:cNvPr id="41" name="Text 37"/>
          <p:cNvSpPr txBox="1"/>
          <p:nvPr/>
        </p:nvSpPr>
        <p:spPr>
          <a:xfrm>
            <a:off x="4251960" y="3959352"/>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Reward: </a:t>
            </a:r>
            <a:r>
              <a:rPr lang="en-US" sz="1400" dirty="0">
                <a:solidFill>
                  <a:srgbClr val="E6EDF7"/>
                </a:solidFill>
                <a:latin typeface="Calibri" pitchFamily="34" charset="0"/>
                <a:ea typeface="Calibri" pitchFamily="34" charset="-122"/>
                <a:cs typeface="Calibri" pitchFamily="34" charset="-120"/>
              </a:rPr>
              <a:t>recognition or payment, per the terms.</a:t>
            </a:r>
            <a:endParaRPr lang="en-US" sz="1400" dirty="0"/>
          </a:p>
        </p:txBody>
      </p:sp>
      <p:sp>
        <p:nvSpPr>
          <p:cNvPr id="42" name="Text 38"/>
          <p:cNvSpPr txBox="1"/>
          <p:nvPr/>
        </p:nvSpPr>
        <p:spPr>
          <a:xfrm>
            <a:off x="4251960" y="4261104"/>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Rules: </a:t>
            </a:r>
            <a:r>
              <a:rPr lang="en-US" sz="1400" dirty="0">
                <a:solidFill>
                  <a:srgbClr val="E6EDF7"/>
                </a:solidFill>
                <a:latin typeface="Calibri" pitchFamily="34" charset="0"/>
                <a:ea typeface="Calibri" pitchFamily="34" charset="-122"/>
                <a:cs typeface="Calibri" pitchFamily="34" charset="-120"/>
              </a:rPr>
              <a:t>they define what may be tested.</a:t>
            </a:r>
            <a:endParaRPr lang="en-US" sz="1400" dirty="0"/>
          </a:p>
        </p:txBody>
      </p:sp>
      <p:sp>
        <p:nvSpPr>
          <p:cNvPr id="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0F2A3A"/>
          </a:solidFill>
          <a:ln w="12700">
            <a:solidFill>
              <a:srgbClr val="22D3EE"/>
            </a:solidFill>
            <a:prstDash val="solid"/>
          </a:ln>
        </p:spPr>
      </p:sp>
      <p:pic>
        <p:nvPicPr>
          <p:cNvPr id="3" name="Image 0" descr="preencoded.png"/>
          <p:cNvPicPr>
            <a:picLocks noChangeAspect="1"/>
          </p:cNvPicPr>
          <p:nvPr/>
        </p:nvPicPr>
        <p:blipFill>
          <a:blip r:embed="rId3"/>
          <a:stretch>
            <a:fillRect/>
          </a:stretch>
        </p:blipFill>
        <p:spPr>
          <a:xfrm>
            <a:off x="588874" y="451714"/>
            <a:ext cx="285293" cy="285293"/>
          </a:xfrm>
          <a:prstGeom prst="rect">
            <a:avLst/>
          </a:prstGeom>
        </p:spPr>
      </p:pic>
      <p:sp>
        <p:nvSpPr>
          <p:cNvPr id="4" name="Text 1"/>
          <p:cNvSpPr txBox="1"/>
          <p:nvPr/>
        </p:nvSpPr>
        <p:spPr>
          <a:xfrm>
            <a:off x="1188720" y="320040"/>
            <a:ext cx="749808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Went Wrong in the Scenario?</a:t>
            </a:r>
            <a:endParaRPr lang="en-US" sz="2800" dirty="0"/>
          </a:p>
        </p:txBody>
      </p:sp>
      <p:sp>
        <p:nvSpPr>
          <p:cNvPr id="6" name="Text 2"/>
          <p:cNvSpPr txBox="1"/>
          <p:nvPr/>
        </p:nvSpPr>
        <p:spPr>
          <a:xfrm>
            <a:off x="1143000" y="1051560"/>
            <a:ext cx="3200400" cy="228600"/>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WHAT HAPPENED</a:t>
            </a:r>
            <a:endParaRPr lang="en-US" sz="1200" dirty="0"/>
          </a:p>
        </p:txBody>
      </p:sp>
      <p:sp>
        <p:nvSpPr>
          <p:cNvPr id="7" name="Text 3"/>
          <p:cNvSpPr txBox="1"/>
          <p:nvPr/>
        </p:nvSpPr>
        <p:spPr>
          <a:xfrm>
            <a:off x="4663440" y="1051560"/>
            <a:ext cx="3657600" cy="228600"/>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WHY IT IS AN ETHICAL CONCERN</a:t>
            </a:r>
            <a:endParaRPr lang="en-US" sz="1200" dirty="0"/>
          </a:p>
        </p:txBody>
      </p:sp>
      <p:sp>
        <p:nvSpPr>
          <p:cNvPr id="8" name="Shape 4"/>
          <p:cNvSpPr/>
          <p:nvPr/>
        </p:nvSpPr>
        <p:spPr>
          <a:xfrm>
            <a:off x="457200" y="1325880"/>
            <a:ext cx="8229600" cy="585216"/>
          </a:xfrm>
          <a:prstGeom prst="roundRect">
            <a:avLst>
              <a:gd name="adj" fmla="val 12500"/>
            </a:avLst>
          </a:prstGeom>
          <a:solidFill>
            <a:srgbClr val="121C30"/>
          </a:solidFill>
          <a:ln w="12700">
            <a:solidFill>
              <a:srgbClr val="1F3150"/>
            </a:solidFill>
            <a:prstDash val="solid"/>
          </a:ln>
        </p:spPr>
      </p:sp>
      <p:sp>
        <p:nvSpPr>
          <p:cNvPr id="9" name="Shape 5"/>
          <p:cNvSpPr/>
          <p:nvPr/>
        </p:nvSpPr>
        <p:spPr>
          <a:xfrm>
            <a:off x="594360" y="1435608"/>
            <a:ext cx="365760" cy="365760"/>
          </a:xfrm>
          <a:prstGeom prst="ellipse">
            <a:avLst/>
          </a:prstGeom>
          <a:solidFill>
            <a:srgbClr val="22D3EE"/>
          </a:solidFill>
          <a:ln w="12700">
            <a:solidFill>
              <a:srgbClr val="0B1220"/>
            </a:solidFill>
            <a:prstDash val="solid"/>
          </a:ln>
        </p:spPr>
      </p:sp>
      <p:sp>
        <p:nvSpPr>
          <p:cNvPr id="10" name="Text 6"/>
          <p:cNvSpPr txBox="1"/>
          <p:nvPr/>
        </p:nvSpPr>
        <p:spPr>
          <a:xfrm>
            <a:off x="594360" y="1435608"/>
            <a:ext cx="365760" cy="365760"/>
          </a:xfrm>
          <a:prstGeom prst="rect">
            <a:avLst/>
          </a:prstGeom>
          <a:noFill/>
          <a:ln/>
        </p:spPr>
        <p:txBody>
          <a:bodyPr wrap="square" lIns="0" tIns="0" rIns="0" bIns="0"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143000" y="1325880"/>
            <a:ext cx="3337560" cy="58521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critical vulnerability was discovered</a:t>
            </a:r>
            <a:endParaRPr lang="en-US" sz="1400" dirty="0"/>
          </a:p>
        </p:txBody>
      </p:sp>
      <p:sp>
        <p:nvSpPr>
          <p:cNvPr id="12" name="Text 8"/>
          <p:cNvSpPr txBox="1"/>
          <p:nvPr/>
        </p:nvSpPr>
        <p:spPr>
          <a:xfrm>
            <a:off x="4663440" y="1325880"/>
            <a:ext cx="3931920" cy="585216"/>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Finding a flaw is not wrong, but a critical flaw means many users could be affected.</a:t>
            </a:r>
            <a:endParaRPr lang="en-US" sz="1400" dirty="0"/>
          </a:p>
        </p:txBody>
      </p:sp>
      <p:sp>
        <p:nvSpPr>
          <p:cNvPr id="13" name="Shape 9"/>
          <p:cNvSpPr/>
          <p:nvPr/>
        </p:nvSpPr>
        <p:spPr>
          <a:xfrm>
            <a:off x="457200" y="1965960"/>
            <a:ext cx="8229600" cy="585216"/>
          </a:xfrm>
          <a:prstGeom prst="roundRect">
            <a:avLst>
              <a:gd name="adj" fmla="val 12500"/>
            </a:avLst>
          </a:prstGeom>
          <a:solidFill>
            <a:srgbClr val="121C30"/>
          </a:solidFill>
          <a:ln w="12700">
            <a:solidFill>
              <a:srgbClr val="1F3150"/>
            </a:solidFill>
            <a:prstDash val="solid"/>
          </a:ln>
        </p:spPr>
      </p:sp>
      <p:sp>
        <p:nvSpPr>
          <p:cNvPr id="14" name="Shape 10"/>
          <p:cNvSpPr/>
          <p:nvPr/>
        </p:nvSpPr>
        <p:spPr>
          <a:xfrm>
            <a:off x="594360" y="2075688"/>
            <a:ext cx="365760" cy="365760"/>
          </a:xfrm>
          <a:prstGeom prst="ellipse">
            <a:avLst/>
          </a:prstGeom>
          <a:solidFill>
            <a:srgbClr val="22D3EE"/>
          </a:solidFill>
          <a:ln w="12700">
            <a:solidFill>
              <a:srgbClr val="0B1220"/>
            </a:solidFill>
            <a:prstDash val="solid"/>
          </a:ln>
        </p:spPr>
      </p:sp>
      <p:sp>
        <p:nvSpPr>
          <p:cNvPr id="15" name="Text 11"/>
          <p:cNvSpPr txBox="1"/>
          <p:nvPr/>
        </p:nvSpPr>
        <p:spPr>
          <a:xfrm>
            <a:off x="594360" y="2075688"/>
            <a:ext cx="365760" cy="365760"/>
          </a:xfrm>
          <a:prstGeom prst="rect">
            <a:avLst/>
          </a:prstGeom>
          <a:noFill/>
          <a:ln/>
        </p:spPr>
        <p:txBody>
          <a:bodyPr wrap="square" lIns="0" tIns="0" rIns="0" bIns="0"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2</a:t>
            </a:r>
            <a:endParaRPr lang="en-US" sz="1400" dirty="0"/>
          </a:p>
        </p:txBody>
      </p:sp>
      <p:sp>
        <p:nvSpPr>
          <p:cNvPr id="16" name="Text 12"/>
          <p:cNvSpPr txBox="1"/>
          <p:nvPr/>
        </p:nvSpPr>
        <p:spPr>
          <a:xfrm>
            <a:off x="1143000" y="1965960"/>
            <a:ext cx="3337560" cy="58521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responsible reporting channel was available</a:t>
            </a:r>
            <a:endParaRPr lang="en-US" sz="1400" dirty="0"/>
          </a:p>
        </p:txBody>
      </p:sp>
      <p:sp>
        <p:nvSpPr>
          <p:cNvPr id="17" name="Text 13"/>
          <p:cNvSpPr txBox="1"/>
          <p:nvPr/>
        </p:nvSpPr>
        <p:spPr>
          <a:xfrm>
            <a:off x="4663440" y="1965960"/>
            <a:ext cx="3931920" cy="585216"/>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The company had a safe, official way to receive the report, so no shortcut was needed.</a:t>
            </a:r>
            <a:endParaRPr lang="en-US" sz="1400" dirty="0"/>
          </a:p>
        </p:txBody>
      </p:sp>
      <p:sp>
        <p:nvSpPr>
          <p:cNvPr id="18" name="Shape 14"/>
          <p:cNvSpPr/>
          <p:nvPr/>
        </p:nvSpPr>
        <p:spPr>
          <a:xfrm>
            <a:off x="457200" y="2606040"/>
            <a:ext cx="8229600" cy="585216"/>
          </a:xfrm>
          <a:prstGeom prst="roundRect">
            <a:avLst>
              <a:gd name="adj" fmla="val 12500"/>
            </a:avLst>
          </a:prstGeom>
          <a:solidFill>
            <a:srgbClr val="2A1620"/>
          </a:solidFill>
          <a:ln w="12700">
            <a:solidFill>
              <a:srgbClr val="5B2A35"/>
            </a:solidFill>
            <a:prstDash val="solid"/>
          </a:ln>
        </p:spPr>
      </p:sp>
      <p:sp>
        <p:nvSpPr>
          <p:cNvPr id="19" name="Shape 15"/>
          <p:cNvSpPr/>
          <p:nvPr/>
        </p:nvSpPr>
        <p:spPr>
          <a:xfrm>
            <a:off x="594360" y="2715768"/>
            <a:ext cx="365760" cy="365760"/>
          </a:xfrm>
          <a:prstGeom prst="ellipse">
            <a:avLst/>
          </a:prstGeom>
          <a:solidFill>
            <a:srgbClr val="F87171"/>
          </a:solidFill>
          <a:ln w="12700">
            <a:solidFill>
              <a:srgbClr val="0B1220"/>
            </a:solidFill>
            <a:prstDash val="solid"/>
          </a:ln>
        </p:spPr>
      </p:sp>
      <p:sp>
        <p:nvSpPr>
          <p:cNvPr id="20" name="Text 16"/>
          <p:cNvSpPr txBox="1"/>
          <p:nvPr/>
        </p:nvSpPr>
        <p:spPr>
          <a:xfrm>
            <a:off x="594360" y="2715768"/>
            <a:ext cx="365760" cy="365760"/>
          </a:xfrm>
          <a:prstGeom prst="rect">
            <a:avLst/>
          </a:prstGeom>
          <a:noFill/>
          <a:ln/>
        </p:spPr>
        <p:txBody>
          <a:bodyPr wrap="square" lIns="0" tIns="0" rIns="0" bIns="0"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606040"/>
            <a:ext cx="3337560" cy="58521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researcher did not use that channel</a:t>
            </a:r>
            <a:endParaRPr lang="en-US" sz="1400" dirty="0"/>
          </a:p>
        </p:txBody>
      </p:sp>
      <p:sp>
        <p:nvSpPr>
          <p:cNvPr id="22" name="Text 18"/>
          <p:cNvSpPr txBox="1"/>
          <p:nvPr/>
        </p:nvSpPr>
        <p:spPr>
          <a:xfrm>
            <a:off x="4663440" y="2606040"/>
            <a:ext cx="3931920" cy="585216"/>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Skipping it left the company unaware, with no chance to investigate or fix the flaw first.</a:t>
            </a:r>
            <a:endParaRPr lang="en-US" sz="1400" dirty="0"/>
          </a:p>
        </p:txBody>
      </p:sp>
      <p:sp>
        <p:nvSpPr>
          <p:cNvPr id="23" name="Shape 19"/>
          <p:cNvSpPr/>
          <p:nvPr/>
        </p:nvSpPr>
        <p:spPr>
          <a:xfrm>
            <a:off x="457200" y="3246120"/>
            <a:ext cx="8229600" cy="585216"/>
          </a:xfrm>
          <a:prstGeom prst="roundRect">
            <a:avLst>
              <a:gd name="adj" fmla="val 12500"/>
            </a:avLst>
          </a:prstGeom>
          <a:solidFill>
            <a:srgbClr val="2A1620"/>
          </a:solidFill>
          <a:ln w="12700">
            <a:solidFill>
              <a:srgbClr val="5B2A35"/>
            </a:solidFill>
            <a:prstDash val="solid"/>
          </a:ln>
        </p:spPr>
      </p:sp>
      <p:sp>
        <p:nvSpPr>
          <p:cNvPr id="24" name="Shape 20"/>
          <p:cNvSpPr/>
          <p:nvPr/>
        </p:nvSpPr>
        <p:spPr>
          <a:xfrm>
            <a:off x="594360" y="3355848"/>
            <a:ext cx="365760" cy="365760"/>
          </a:xfrm>
          <a:prstGeom prst="ellipse">
            <a:avLst/>
          </a:prstGeom>
          <a:solidFill>
            <a:srgbClr val="F87171"/>
          </a:solidFill>
          <a:ln w="12700">
            <a:solidFill>
              <a:srgbClr val="0B1220"/>
            </a:solidFill>
            <a:prstDash val="solid"/>
          </a:ln>
        </p:spPr>
      </p:sp>
      <p:sp>
        <p:nvSpPr>
          <p:cNvPr id="25" name="Text 21"/>
          <p:cNvSpPr txBox="1"/>
          <p:nvPr/>
        </p:nvSpPr>
        <p:spPr>
          <a:xfrm>
            <a:off x="594360" y="3355848"/>
            <a:ext cx="365760" cy="365760"/>
          </a:xfrm>
          <a:prstGeom prst="rect">
            <a:avLst/>
          </a:prstGeom>
          <a:noFill/>
          <a:ln/>
        </p:spPr>
        <p:txBody>
          <a:bodyPr wrap="square" lIns="0" tIns="0" rIns="0" bIns="0"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4</a:t>
            </a:r>
            <a:endParaRPr lang="en-US" sz="1400" dirty="0"/>
          </a:p>
        </p:txBody>
      </p:sp>
      <p:sp>
        <p:nvSpPr>
          <p:cNvPr id="26" name="Text 22"/>
          <p:cNvSpPr txBox="1"/>
          <p:nvPr/>
        </p:nvSpPr>
        <p:spPr>
          <a:xfrm>
            <a:off x="1143000" y="3246120"/>
            <a:ext cx="3337560" cy="58521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vulnerability was publicly exposed</a:t>
            </a:r>
            <a:endParaRPr lang="en-US" sz="1400" dirty="0"/>
          </a:p>
        </p:txBody>
      </p:sp>
      <p:sp>
        <p:nvSpPr>
          <p:cNvPr id="27" name="Text 23"/>
          <p:cNvSpPr txBox="1"/>
          <p:nvPr/>
        </p:nvSpPr>
        <p:spPr>
          <a:xfrm>
            <a:off x="4663440" y="3246120"/>
            <a:ext cx="3931920" cy="585216"/>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Once public, attackers can learn about the flaw too, while users are still unprotected.</a:t>
            </a:r>
            <a:endParaRPr lang="en-US" sz="1400" dirty="0"/>
          </a:p>
        </p:txBody>
      </p:sp>
      <p:sp>
        <p:nvSpPr>
          <p:cNvPr id="28" name="Shape 24"/>
          <p:cNvSpPr/>
          <p:nvPr/>
        </p:nvSpPr>
        <p:spPr>
          <a:xfrm>
            <a:off x="457200" y="3886200"/>
            <a:ext cx="8229600" cy="585216"/>
          </a:xfrm>
          <a:prstGeom prst="roundRect">
            <a:avLst>
              <a:gd name="adj" fmla="val 12500"/>
            </a:avLst>
          </a:prstGeom>
          <a:solidFill>
            <a:srgbClr val="2A1620"/>
          </a:solidFill>
          <a:ln w="12700">
            <a:solidFill>
              <a:srgbClr val="5B2A35"/>
            </a:solidFill>
            <a:prstDash val="solid"/>
          </a:ln>
        </p:spPr>
      </p:sp>
      <p:sp>
        <p:nvSpPr>
          <p:cNvPr id="29" name="Shape 25"/>
          <p:cNvSpPr/>
          <p:nvPr/>
        </p:nvSpPr>
        <p:spPr>
          <a:xfrm>
            <a:off x="594360" y="3995928"/>
            <a:ext cx="365760" cy="365760"/>
          </a:xfrm>
          <a:prstGeom prst="ellipse">
            <a:avLst/>
          </a:prstGeom>
          <a:solidFill>
            <a:srgbClr val="F87171"/>
          </a:solidFill>
          <a:ln w="12700">
            <a:solidFill>
              <a:srgbClr val="0B1220"/>
            </a:solidFill>
            <a:prstDash val="solid"/>
          </a:ln>
        </p:spPr>
      </p:sp>
      <p:sp>
        <p:nvSpPr>
          <p:cNvPr id="30" name="Text 26"/>
          <p:cNvSpPr txBox="1"/>
          <p:nvPr/>
        </p:nvSpPr>
        <p:spPr>
          <a:xfrm>
            <a:off x="594360" y="3995928"/>
            <a:ext cx="365760" cy="365760"/>
          </a:xfrm>
          <a:prstGeom prst="rect">
            <a:avLst/>
          </a:prstGeom>
          <a:noFill/>
          <a:ln/>
        </p:spPr>
        <p:txBody>
          <a:bodyPr wrap="square" lIns="0" tIns="0" rIns="0" bIns="0"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5</a:t>
            </a:r>
            <a:endParaRPr lang="en-US" sz="1400" dirty="0"/>
          </a:p>
        </p:txBody>
      </p:sp>
      <p:sp>
        <p:nvSpPr>
          <p:cNvPr id="31" name="Text 27"/>
          <p:cNvSpPr txBox="1"/>
          <p:nvPr/>
        </p:nvSpPr>
        <p:spPr>
          <a:xfrm>
            <a:off x="1143000" y="3886200"/>
            <a:ext cx="3337560" cy="58521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Exposure was used to pressure for payment</a:t>
            </a:r>
            <a:endParaRPr lang="en-US" sz="1400" dirty="0"/>
          </a:p>
        </p:txBody>
      </p:sp>
      <p:sp>
        <p:nvSpPr>
          <p:cNvPr id="32" name="Text 28"/>
          <p:cNvSpPr txBox="1"/>
          <p:nvPr/>
        </p:nvSpPr>
        <p:spPr>
          <a:xfrm>
            <a:off x="4663440" y="3886200"/>
            <a:ext cx="3931920" cy="585216"/>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Tying payment to public risk is pressure, not research, and may have legal consequences.</a:t>
            </a:r>
            <a:endParaRPr lang="en-US" sz="1400" dirty="0"/>
          </a:p>
        </p:txBody>
      </p:sp>
      <p:sp>
        <p:nvSpPr>
          <p:cNvPr id="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0F2A3A"/>
          </a:solidFill>
          <a:ln w="12700">
            <a:solidFill>
              <a:srgbClr val="22D3EE"/>
            </a:solidFill>
            <a:prstDash val="solid"/>
          </a:ln>
        </p:spPr>
      </p:sp>
      <p:pic>
        <p:nvPicPr>
          <p:cNvPr id="3" name="Image 0" descr="preencoded.png"/>
          <p:cNvPicPr>
            <a:picLocks noChangeAspect="1"/>
          </p:cNvPicPr>
          <p:nvPr/>
        </p:nvPicPr>
        <p:blipFill>
          <a:blip r:embed="rId3"/>
          <a:stretch>
            <a:fillRect/>
          </a:stretch>
        </p:blipFill>
        <p:spPr>
          <a:xfrm>
            <a:off x="588874" y="451714"/>
            <a:ext cx="285293" cy="285293"/>
          </a:xfrm>
          <a:prstGeom prst="rect">
            <a:avLst/>
          </a:prstGeom>
        </p:spPr>
      </p:pic>
      <p:sp>
        <p:nvSpPr>
          <p:cNvPr id="4" name="Text 1"/>
          <p:cNvSpPr txBox="1"/>
          <p:nvPr/>
        </p:nvSpPr>
        <p:spPr>
          <a:xfrm>
            <a:off x="1188720" y="320040"/>
            <a:ext cx="749808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Ethical Issues and Principles</a:t>
            </a:r>
            <a:endParaRPr lang="en-US" sz="2800" dirty="0"/>
          </a:p>
        </p:txBody>
      </p:sp>
      <p:sp>
        <p:nvSpPr>
          <p:cNvPr id="6" name="Text 2"/>
          <p:cNvSpPr txBox="1"/>
          <p:nvPr/>
        </p:nvSpPr>
        <p:spPr>
          <a:xfrm>
            <a:off x="457200" y="1051560"/>
            <a:ext cx="4023360" cy="256032"/>
          </a:xfrm>
          <a:prstGeom prst="rect">
            <a:avLst/>
          </a:prstGeom>
          <a:noFill/>
          <a:ln/>
        </p:spPr>
        <p:txBody>
          <a:bodyPr wrap="square" lIns="0" tIns="0" rIns="0" bIns="0" rtlCol="0" anchor="ctr"/>
          <a:lstStyle/>
          <a:p>
            <a:pPr marL="0" indent="0">
              <a:buNone/>
            </a:pPr>
            <a:r>
              <a:rPr lang="en-US" sz="1300" b="1" dirty="0">
                <a:solidFill>
                  <a:srgbClr val="F87171"/>
                </a:solidFill>
                <a:latin typeface="Calibri" pitchFamily="34" charset="0"/>
                <a:ea typeface="Calibri" pitchFamily="34" charset="-122"/>
                <a:cs typeface="Calibri" pitchFamily="34" charset="-120"/>
              </a:rPr>
              <a:t>ETHICAL ISSUES</a:t>
            </a:r>
            <a:endParaRPr lang="en-US" sz="1300" dirty="0"/>
          </a:p>
        </p:txBody>
      </p:sp>
      <p:sp>
        <p:nvSpPr>
          <p:cNvPr id="7" name="Text 3"/>
          <p:cNvSpPr txBox="1"/>
          <p:nvPr/>
        </p:nvSpPr>
        <p:spPr>
          <a:xfrm>
            <a:off x="4663440" y="1051560"/>
            <a:ext cx="4023360" cy="256032"/>
          </a:xfrm>
          <a:prstGeom prst="rect">
            <a:avLst/>
          </a:prstGeom>
          <a:noFill/>
          <a:ln/>
        </p:spPr>
        <p:txBody>
          <a:bodyPr wrap="square" lIns="0" tIns="0" rIns="0" bIns="0" rtlCol="0" anchor="ctr"/>
          <a:lstStyle/>
          <a:p>
            <a:pPr marL="0" indent="0">
              <a:buNone/>
            </a:pPr>
            <a:r>
              <a:rPr lang="en-US" sz="1300" b="1" dirty="0">
                <a:solidFill>
                  <a:srgbClr val="22D3EE"/>
                </a:solidFill>
                <a:latin typeface="Calibri" pitchFamily="34" charset="0"/>
                <a:ea typeface="Calibri" pitchFamily="34" charset="-122"/>
                <a:cs typeface="Calibri" pitchFamily="34" charset="-120"/>
              </a:rPr>
              <a:t>PRINCIPLES INVOLVED</a:t>
            </a:r>
            <a:endParaRPr lang="en-US" sz="1300" dirty="0"/>
          </a:p>
        </p:txBody>
      </p:sp>
      <p:sp>
        <p:nvSpPr>
          <p:cNvPr id="8" name="Shape 4"/>
          <p:cNvSpPr/>
          <p:nvPr/>
        </p:nvSpPr>
        <p:spPr>
          <a:xfrm>
            <a:off x="457200" y="1353312"/>
            <a:ext cx="4023360" cy="420624"/>
          </a:xfrm>
          <a:prstGeom prst="roundRect">
            <a:avLst>
              <a:gd name="adj" fmla="val 17391"/>
            </a:avLst>
          </a:prstGeom>
          <a:solidFill>
            <a:srgbClr val="2A1620"/>
          </a:solidFill>
          <a:ln w="12700">
            <a:solidFill>
              <a:srgbClr val="5B2A35"/>
            </a:solidFill>
            <a:prstDash val="solid"/>
          </a:ln>
        </p:spPr>
      </p:sp>
      <p:sp>
        <p:nvSpPr>
          <p:cNvPr id="9" name="Shape 5"/>
          <p:cNvSpPr/>
          <p:nvPr/>
        </p:nvSpPr>
        <p:spPr>
          <a:xfrm>
            <a:off x="548640" y="1408176"/>
            <a:ext cx="310896" cy="310896"/>
          </a:xfrm>
          <a:prstGeom prst="ellipse">
            <a:avLst/>
          </a:prstGeom>
          <a:solidFill>
            <a:srgbClr val="121C30"/>
          </a:solidFill>
          <a:ln w="12700">
            <a:solidFill>
              <a:srgbClr val="F87171"/>
            </a:solidFill>
            <a:prstDash val="solid"/>
          </a:ln>
        </p:spPr>
      </p:sp>
      <p:pic>
        <p:nvPicPr>
          <p:cNvPr id="10" name="Image 1" descr="preencoded.png"/>
          <p:cNvPicPr>
            <a:picLocks noChangeAspect="1"/>
          </p:cNvPicPr>
          <p:nvPr/>
        </p:nvPicPr>
        <p:blipFill>
          <a:blip r:embed="rId4"/>
          <a:stretch>
            <a:fillRect/>
          </a:stretch>
        </p:blipFill>
        <p:spPr>
          <a:xfrm>
            <a:off x="623255" y="1482791"/>
            <a:ext cx="161666" cy="161666"/>
          </a:xfrm>
          <a:prstGeom prst="rect">
            <a:avLst/>
          </a:prstGeom>
        </p:spPr>
      </p:pic>
      <p:sp>
        <p:nvSpPr>
          <p:cNvPr id="11" name="Text 6"/>
          <p:cNvSpPr txBox="1"/>
          <p:nvPr/>
        </p:nvSpPr>
        <p:spPr>
          <a:xfrm>
            <a:off x="960120" y="1353312"/>
            <a:ext cx="3429000" cy="42062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Irresponsible disclosure: </a:t>
            </a:r>
            <a:r>
              <a:rPr lang="en-US" sz="1400" dirty="0">
                <a:solidFill>
                  <a:srgbClr val="E6EDF7"/>
                </a:solidFill>
                <a:latin typeface="Calibri" pitchFamily="34" charset="0"/>
                <a:ea typeface="Calibri" pitchFamily="34" charset="-122"/>
                <a:cs typeface="Calibri" pitchFamily="34" charset="-120"/>
              </a:rPr>
              <a:t>owner not warned</a:t>
            </a:r>
            <a:endParaRPr lang="en-US" sz="1400" dirty="0"/>
          </a:p>
        </p:txBody>
      </p:sp>
      <p:sp>
        <p:nvSpPr>
          <p:cNvPr id="12" name="Shape 7"/>
          <p:cNvSpPr/>
          <p:nvPr/>
        </p:nvSpPr>
        <p:spPr>
          <a:xfrm>
            <a:off x="457200" y="1819656"/>
            <a:ext cx="4023360" cy="420624"/>
          </a:xfrm>
          <a:prstGeom prst="roundRect">
            <a:avLst>
              <a:gd name="adj" fmla="val 17391"/>
            </a:avLst>
          </a:prstGeom>
          <a:solidFill>
            <a:srgbClr val="2A1620"/>
          </a:solidFill>
          <a:ln w="12700">
            <a:solidFill>
              <a:srgbClr val="5B2A35"/>
            </a:solidFill>
            <a:prstDash val="solid"/>
          </a:ln>
        </p:spPr>
      </p:sp>
      <p:sp>
        <p:nvSpPr>
          <p:cNvPr id="13" name="Shape 8"/>
          <p:cNvSpPr/>
          <p:nvPr/>
        </p:nvSpPr>
        <p:spPr>
          <a:xfrm>
            <a:off x="548640" y="1874520"/>
            <a:ext cx="310896" cy="310896"/>
          </a:xfrm>
          <a:prstGeom prst="ellipse">
            <a:avLst/>
          </a:prstGeom>
          <a:solidFill>
            <a:srgbClr val="121C30"/>
          </a:solidFill>
          <a:ln w="12700">
            <a:solidFill>
              <a:srgbClr val="F87171"/>
            </a:solidFill>
            <a:prstDash val="solid"/>
          </a:ln>
        </p:spPr>
      </p:sp>
      <p:pic>
        <p:nvPicPr>
          <p:cNvPr id="14" name="Image 2" descr="preencoded.png"/>
          <p:cNvPicPr>
            <a:picLocks noChangeAspect="1"/>
          </p:cNvPicPr>
          <p:nvPr/>
        </p:nvPicPr>
        <p:blipFill>
          <a:blip r:embed="rId5"/>
          <a:stretch>
            <a:fillRect/>
          </a:stretch>
        </p:blipFill>
        <p:spPr>
          <a:xfrm>
            <a:off x="623255" y="1949135"/>
            <a:ext cx="161666" cy="161666"/>
          </a:xfrm>
          <a:prstGeom prst="rect">
            <a:avLst/>
          </a:prstGeom>
        </p:spPr>
      </p:pic>
      <p:sp>
        <p:nvSpPr>
          <p:cNvPr id="15" name="Text 9"/>
          <p:cNvSpPr txBox="1"/>
          <p:nvPr/>
        </p:nvSpPr>
        <p:spPr>
          <a:xfrm>
            <a:off x="960120" y="1819656"/>
            <a:ext cx="3429000" cy="42062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Harm to users: </a:t>
            </a:r>
            <a:r>
              <a:rPr lang="en-US" sz="1400" dirty="0">
                <a:solidFill>
                  <a:srgbClr val="E6EDF7"/>
                </a:solidFill>
                <a:latin typeface="Calibri" pitchFamily="34" charset="0"/>
                <a:ea typeface="Calibri" pitchFamily="34" charset="-122"/>
                <a:cs typeface="Calibri" pitchFamily="34" charset="-120"/>
              </a:rPr>
              <a:t>data, money, privacy</a:t>
            </a:r>
            <a:endParaRPr lang="en-US" sz="1400" dirty="0"/>
          </a:p>
        </p:txBody>
      </p:sp>
      <p:sp>
        <p:nvSpPr>
          <p:cNvPr id="16" name="Shape 10"/>
          <p:cNvSpPr/>
          <p:nvPr/>
        </p:nvSpPr>
        <p:spPr>
          <a:xfrm>
            <a:off x="457200" y="2286000"/>
            <a:ext cx="4023360" cy="420624"/>
          </a:xfrm>
          <a:prstGeom prst="roundRect">
            <a:avLst>
              <a:gd name="adj" fmla="val 17391"/>
            </a:avLst>
          </a:prstGeom>
          <a:solidFill>
            <a:srgbClr val="2A1620"/>
          </a:solidFill>
          <a:ln w="12700">
            <a:solidFill>
              <a:srgbClr val="5B2A35"/>
            </a:solidFill>
            <a:prstDash val="solid"/>
          </a:ln>
        </p:spPr>
      </p:sp>
      <p:sp>
        <p:nvSpPr>
          <p:cNvPr id="17" name="Shape 11"/>
          <p:cNvSpPr/>
          <p:nvPr/>
        </p:nvSpPr>
        <p:spPr>
          <a:xfrm>
            <a:off x="548640" y="2340864"/>
            <a:ext cx="310896" cy="310896"/>
          </a:xfrm>
          <a:prstGeom prst="ellipse">
            <a:avLst/>
          </a:prstGeom>
          <a:solidFill>
            <a:srgbClr val="121C30"/>
          </a:solidFill>
          <a:ln w="12700">
            <a:solidFill>
              <a:srgbClr val="F87171"/>
            </a:solidFill>
            <a:prstDash val="solid"/>
          </a:ln>
        </p:spPr>
      </p:sp>
      <p:pic>
        <p:nvPicPr>
          <p:cNvPr id="18" name="Image 3" descr="preencoded.png"/>
          <p:cNvPicPr>
            <a:picLocks noChangeAspect="1"/>
          </p:cNvPicPr>
          <p:nvPr/>
        </p:nvPicPr>
        <p:blipFill>
          <a:blip r:embed="rId6"/>
          <a:stretch>
            <a:fillRect/>
          </a:stretch>
        </p:blipFill>
        <p:spPr>
          <a:xfrm>
            <a:off x="623255" y="2415479"/>
            <a:ext cx="161666" cy="161666"/>
          </a:xfrm>
          <a:prstGeom prst="rect">
            <a:avLst/>
          </a:prstGeom>
        </p:spPr>
      </p:pic>
      <p:sp>
        <p:nvSpPr>
          <p:cNvPr id="19" name="Text 12"/>
          <p:cNvSpPr txBox="1"/>
          <p:nvPr/>
        </p:nvSpPr>
        <p:spPr>
          <a:xfrm>
            <a:off x="960120" y="2286000"/>
            <a:ext cx="3429000" cy="42062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Exploitation risk: </a:t>
            </a:r>
            <a:r>
              <a:rPr lang="en-US" sz="1400" dirty="0">
                <a:solidFill>
                  <a:srgbClr val="E6EDF7"/>
                </a:solidFill>
                <a:latin typeface="Calibri" pitchFamily="34" charset="0"/>
                <a:ea typeface="Calibri" pitchFamily="34" charset="-122"/>
                <a:cs typeface="Calibri" pitchFamily="34" charset="-120"/>
              </a:rPr>
              <a:t>attackers may act first</a:t>
            </a:r>
            <a:endParaRPr lang="en-US" sz="1400" dirty="0"/>
          </a:p>
        </p:txBody>
      </p:sp>
      <p:sp>
        <p:nvSpPr>
          <p:cNvPr id="20" name="Shape 13"/>
          <p:cNvSpPr/>
          <p:nvPr/>
        </p:nvSpPr>
        <p:spPr>
          <a:xfrm>
            <a:off x="457200" y="2752344"/>
            <a:ext cx="4023360" cy="420624"/>
          </a:xfrm>
          <a:prstGeom prst="roundRect">
            <a:avLst>
              <a:gd name="adj" fmla="val 17391"/>
            </a:avLst>
          </a:prstGeom>
          <a:solidFill>
            <a:srgbClr val="2A1620"/>
          </a:solidFill>
          <a:ln w="12700">
            <a:solidFill>
              <a:srgbClr val="5B2A35"/>
            </a:solidFill>
            <a:prstDash val="solid"/>
          </a:ln>
        </p:spPr>
      </p:sp>
      <p:sp>
        <p:nvSpPr>
          <p:cNvPr id="21" name="Shape 14"/>
          <p:cNvSpPr/>
          <p:nvPr/>
        </p:nvSpPr>
        <p:spPr>
          <a:xfrm>
            <a:off x="548640" y="2807208"/>
            <a:ext cx="310896" cy="310896"/>
          </a:xfrm>
          <a:prstGeom prst="ellipse">
            <a:avLst/>
          </a:prstGeom>
          <a:solidFill>
            <a:srgbClr val="121C30"/>
          </a:solidFill>
          <a:ln w="12700">
            <a:solidFill>
              <a:srgbClr val="F87171"/>
            </a:solidFill>
            <a:prstDash val="solid"/>
          </a:ln>
        </p:spPr>
      </p:sp>
      <p:pic>
        <p:nvPicPr>
          <p:cNvPr id="22" name="Image 4" descr="preencoded.png"/>
          <p:cNvPicPr>
            <a:picLocks noChangeAspect="1"/>
          </p:cNvPicPr>
          <p:nvPr/>
        </p:nvPicPr>
        <p:blipFill>
          <a:blip r:embed="rId7"/>
          <a:stretch>
            <a:fillRect/>
          </a:stretch>
        </p:blipFill>
        <p:spPr>
          <a:xfrm>
            <a:off x="623255" y="2881823"/>
            <a:ext cx="161666" cy="161666"/>
          </a:xfrm>
          <a:prstGeom prst="rect">
            <a:avLst/>
          </a:prstGeom>
        </p:spPr>
      </p:pic>
      <p:sp>
        <p:nvSpPr>
          <p:cNvPr id="23" name="Text 15"/>
          <p:cNvSpPr txBox="1"/>
          <p:nvPr/>
        </p:nvSpPr>
        <p:spPr>
          <a:xfrm>
            <a:off x="960120" y="2752344"/>
            <a:ext cx="3429000" cy="42062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Pressure for payment: </a:t>
            </a:r>
            <a:r>
              <a:rPr lang="en-US" sz="1400" dirty="0">
                <a:solidFill>
                  <a:srgbClr val="E6EDF7"/>
                </a:solidFill>
                <a:latin typeface="Calibri" pitchFamily="34" charset="0"/>
                <a:ea typeface="Calibri" pitchFamily="34" charset="-122"/>
                <a:cs typeface="Calibri" pitchFamily="34" charset="-120"/>
              </a:rPr>
              <a:t>threat of exposure</a:t>
            </a:r>
            <a:endParaRPr lang="en-US" sz="1400" dirty="0"/>
          </a:p>
        </p:txBody>
      </p:sp>
      <p:sp>
        <p:nvSpPr>
          <p:cNvPr id="24" name="Shape 16"/>
          <p:cNvSpPr/>
          <p:nvPr/>
        </p:nvSpPr>
        <p:spPr>
          <a:xfrm>
            <a:off x="457200" y="3218688"/>
            <a:ext cx="4023360" cy="420624"/>
          </a:xfrm>
          <a:prstGeom prst="roundRect">
            <a:avLst>
              <a:gd name="adj" fmla="val 17391"/>
            </a:avLst>
          </a:prstGeom>
          <a:solidFill>
            <a:srgbClr val="2A1620"/>
          </a:solidFill>
          <a:ln w="12700">
            <a:solidFill>
              <a:srgbClr val="5B2A35"/>
            </a:solidFill>
            <a:prstDash val="solid"/>
          </a:ln>
        </p:spPr>
      </p:sp>
      <p:sp>
        <p:nvSpPr>
          <p:cNvPr id="25" name="Shape 17"/>
          <p:cNvSpPr/>
          <p:nvPr/>
        </p:nvSpPr>
        <p:spPr>
          <a:xfrm>
            <a:off x="548640" y="3273552"/>
            <a:ext cx="310896" cy="310896"/>
          </a:xfrm>
          <a:prstGeom prst="ellipse">
            <a:avLst/>
          </a:prstGeom>
          <a:solidFill>
            <a:srgbClr val="121C30"/>
          </a:solidFill>
          <a:ln w="12700">
            <a:solidFill>
              <a:srgbClr val="F87171"/>
            </a:solidFill>
            <a:prstDash val="solid"/>
          </a:ln>
        </p:spPr>
      </p:sp>
      <p:pic>
        <p:nvPicPr>
          <p:cNvPr id="26" name="Image 5" descr="preencoded.png"/>
          <p:cNvPicPr>
            <a:picLocks noChangeAspect="1"/>
          </p:cNvPicPr>
          <p:nvPr/>
        </p:nvPicPr>
        <p:blipFill>
          <a:blip r:embed="rId8"/>
          <a:stretch>
            <a:fillRect/>
          </a:stretch>
        </p:blipFill>
        <p:spPr>
          <a:xfrm>
            <a:off x="623255" y="3348167"/>
            <a:ext cx="161666" cy="161666"/>
          </a:xfrm>
          <a:prstGeom prst="rect">
            <a:avLst/>
          </a:prstGeom>
        </p:spPr>
      </p:pic>
      <p:sp>
        <p:nvSpPr>
          <p:cNvPr id="27" name="Text 18"/>
          <p:cNvSpPr txBox="1"/>
          <p:nvPr/>
        </p:nvSpPr>
        <p:spPr>
          <a:xfrm>
            <a:off x="960120" y="3218688"/>
            <a:ext cx="3429000" cy="42062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Process ignored: </a:t>
            </a:r>
            <a:r>
              <a:rPr lang="en-US" sz="1400" dirty="0">
                <a:solidFill>
                  <a:srgbClr val="E6EDF7"/>
                </a:solidFill>
                <a:latin typeface="Calibri" pitchFamily="34" charset="0"/>
                <a:ea typeface="Calibri" pitchFamily="34" charset="-122"/>
                <a:cs typeface="Calibri" pitchFamily="34" charset="-120"/>
              </a:rPr>
              <a:t>company policy skipped</a:t>
            </a:r>
            <a:endParaRPr lang="en-US" sz="1400" dirty="0"/>
          </a:p>
        </p:txBody>
      </p:sp>
      <p:sp>
        <p:nvSpPr>
          <p:cNvPr id="28" name="Shape 19"/>
          <p:cNvSpPr/>
          <p:nvPr/>
        </p:nvSpPr>
        <p:spPr>
          <a:xfrm>
            <a:off x="457200" y="3685032"/>
            <a:ext cx="4023360" cy="420624"/>
          </a:xfrm>
          <a:prstGeom prst="roundRect">
            <a:avLst>
              <a:gd name="adj" fmla="val 17391"/>
            </a:avLst>
          </a:prstGeom>
          <a:solidFill>
            <a:srgbClr val="2A1620"/>
          </a:solidFill>
          <a:ln w="12700">
            <a:solidFill>
              <a:srgbClr val="5B2A35"/>
            </a:solidFill>
            <a:prstDash val="solid"/>
          </a:ln>
        </p:spPr>
      </p:sp>
      <p:sp>
        <p:nvSpPr>
          <p:cNvPr id="29" name="Shape 20"/>
          <p:cNvSpPr/>
          <p:nvPr/>
        </p:nvSpPr>
        <p:spPr>
          <a:xfrm>
            <a:off x="548640" y="3739896"/>
            <a:ext cx="310896" cy="310896"/>
          </a:xfrm>
          <a:prstGeom prst="ellipse">
            <a:avLst/>
          </a:prstGeom>
          <a:solidFill>
            <a:srgbClr val="121C30"/>
          </a:solidFill>
          <a:ln w="12700">
            <a:solidFill>
              <a:srgbClr val="F87171"/>
            </a:solidFill>
            <a:prstDash val="solid"/>
          </a:ln>
        </p:spPr>
      </p:sp>
      <p:pic>
        <p:nvPicPr>
          <p:cNvPr id="30" name="Image 6" descr="preencoded.png"/>
          <p:cNvPicPr>
            <a:picLocks noChangeAspect="1"/>
          </p:cNvPicPr>
          <p:nvPr/>
        </p:nvPicPr>
        <p:blipFill>
          <a:blip r:embed="rId9"/>
          <a:stretch>
            <a:fillRect/>
          </a:stretch>
        </p:blipFill>
        <p:spPr>
          <a:xfrm>
            <a:off x="623255" y="3814511"/>
            <a:ext cx="161666" cy="161666"/>
          </a:xfrm>
          <a:prstGeom prst="rect">
            <a:avLst/>
          </a:prstGeom>
        </p:spPr>
      </p:pic>
      <p:sp>
        <p:nvSpPr>
          <p:cNvPr id="31" name="Text 21"/>
          <p:cNvSpPr txBox="1"/>
          <p:nvPr/>
        </p:nvSpPr>
        <p:spPr>
          <a:xfrm>
            <a:off x="960120" y="3685032"/>
            <a:ext cx="3429000" cy="42062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Public safety: </a:t>
            </a:r>
            <a:r>
              <a:rPr lang="en-US" sz="1400" dirty="0">
                <a:solidFill>
                  <a:srgbClr val="E6EDF7"/>
                </a:solidFill>
                <a:latin typeface="Calibri" pitchFamily="34" charset="0"/>
                <a:ea typeface="Calibri" pitchFamily="34" charset="-122"/>
                <a:cs typeface="Calibri" pitchFamily="34" charset="-120"/>
              </a:rPr>
              <a:t>not considered</a:t>
            </a:r>
            <a:endParaRPr lang="en-US" sz="1400" dirty="0"/>
          </a:p>
        </p:txBody>
      </p:sp>
      <p:sp>
        <p:nvSpPr>
          <p:cNvPr id="32" name="Shape 22"/>
          <p:cNvSpPr/>
          <p:nvPr/>
        </p:nvSpPr>
        <p:spPr>
          <a:xfrm>
            <a:off x="457200" y="4151376"/>
            <a:ext cx="4023360" cy="420624"/>
          </a:xfrm>
          <a:prstGeom prst="roundRect">
            <a:avLst>
              <a:gd name="adj" fmla="val 17391"/>
            </a:avLst>
          </a:prstGeom>
          <a:solidFill>
            <a:srgbClr val="2A1620"/>
          </a:solidFill>
          <a:ln w="12700">
            <a:solidFill>
              <a:srgbClr val="5B2A35"/>
            </a:solidFill>
            <a:prstDash val="solid"/>
          </a:ln>
        </p:spPr>
      </p:sp>
      <p:sp>
        <p:nvSpPr>
          <p:cNvPr id="33" name="Shape 23"/>
          <p:cNvSpPr/>
          <p:nvPr/>
        </p:nvSpPr>
        <p:spPr>
          <a:xfrm>
            <a:off x="548640" y="4206240"/>
            <a:ext cx="310896" cy="310896"/>
          </a:xfrm>
          <a:prstGeom prst="ellipse">
            <a:avLst/>
          </a:prstGeom>
          <a:solidFill>
            <a:srgbClr val="121C30"/>
          </a:solidFill>
          <a:ln w="12700">
            <a:solidFill>
              <a:srgbClr val="F87171"/>
            </a:solidFill>
            <a:prstDash val="solid"/>
          </a:ln>
        </p:spPr>
      </p:sp>
      <p:pic>
        <p:nvPicPr>
          <p:cNvPr id="34" name="Image 7" descr="preencoded.png"/>
          <p:cNvPicPr>
            <a:picLocks noChangeAspect="1"/>
          </p:cNvPicPr>
          <p:nvPr/>
        </p:nvPicPr>
        <p:blipFill>
          <a:blip r:embed="rId10"/>
          <a:stretch>
            <a:fillRect/>
          </a:stretch>
        </p:blipFill>
        <p:spPr>
          <a:xfrm>
            <a:off x="623255" y="4280855"/>
            <a:ext cx="161666" cy="161666"/>
          </a:xfrm>
          <a:prstGeom prst="rect">
            <a:avLst/>
          </a:prstGeom>
        </p:spPr>
      </p:pic>
      <p:sp>
        <p:nvSpPr>
          <p:cNvPr id="35" name="Text 24"/>
          <p:cNvSpPr txBox="1"/>
          <p:nvPr/>
        </p:nvSpPr>
        <p:spPr>
          <a:xfrm>
            <a:off x="960120" y="4151376"/>
            <a:ext cx="3429000" cy="42062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Professional duty: </a:t>
            </a:r>
            <a:r>
              <a:rPr lang="en-US" sz="1400" dirty="0">
                <a:solidFill>
                  <a:srgbClr val="E6EDF7"/>
                </a:solidFill>
                <a:latin typeface="Calibri" pitchFamily="34" charset="0"/>
                <a:ea typeface="Calibri" pitchFamily="34" charset="-122"/>
                <a:cs typeface="Calibri" pitchFamily="34" charset="-120"/>
              </a:rPr>
              <a:t>not shown</a:t>
            </a:r>
            <a:endParaRPr lang="en-US" sz="1400" dirty="0"/>
          </a:p>
        </p:txBody>
      </p:sp>
      <p:sp>
        <p:nvSpPr>
          <p:cNvPr id="36" name="Shape 25"/>
          <p:cNvSpPr/>
          <p:nvPr/>
        </p:nvSpPr>
        <p:spPr>
          <a:xfrm>
            <a:off x="4663440" y="1353312"/>
            <a:ext cx="4023360" cy="420624"/>
          </a:xfrm>
          <a:prstGeom prst="roundRect">
            <a:avLst>
              <a:gd name="adj" fmla="val 17391"/>
            </a:avLst>
          </a:prstGeom>
          <a:solidFill>
            <a:srgbClr val="121C30"/>
          </a:solidFill>
          <a:ln w="12700">
            <a:solidFill>
              <a:srgbClr val="1F3150"/>
            </a:solidFill>
            <a:prstDash val="solid"/>
          </a:ln>
        </p:spPr>
      </p:sp>
      <p:sp>
        <p:nvSpPr>
          <p:cNvPr id="37" name="Shape 26"/>
          <p:cNvSpPr/>
          <p:nvPr/>
        </p:nvSpPr>
        <p:spPr>
          <a:xfrm>
            <a:off x="4754880" y="1408176"/>
            <a:ext cx="310896" cy="310896"/>
          </a:xfrm>
          <a:prstGeom prst="ellipse">
            <a:avLst/>
          </a:prstGeom>
          <a:solidFill>
            <a:srgbClr val="121C30"/>
          </a:solidFill>
          <a:ln w="12700">
            <a:solidFill>
              <a:srgbClr val="22D3EE"/>
            </a:solidFill>
            <a:prstDash val="solid"/>
          </a:ln>
        </p:spPr>
      </p:sp>
      <p:pic>
        <p:nvPicPr>
          <p:cNvPr id="38" name="Image 8" descr="preencoded.png"/>
          <p:cNvPicPr>
            <a:picLocks noChangeAspect="1"/>
          </p:cNvPicPr>
          <p:nvPr/>
        </p:nvPicPr>
        <p:blipFill>
          <a:blip r:embed="rId11"/>
          <a:stretch>
            <a:fillRect/>
          </a:stretch>
        </p:blipFill>
        <p:spPr>
          <a:xfrm>
            <a:off x="4829495" y="1482791"/>
            <a:ext cx="161666" cy="161666"/>
          </a:xfrm>
          <a:prstGeom prst="rect">
            <a:avLst/>
          </a:prstGeom>
        </p:spPr>
      </p:pic>
      <p:sp>
        <p:nvSpPr>
          <p:cNvPr id="39" name="Text 27"/>
          <p:cNvSpPr txBox="1"/>
          <p:nvPr/>
        </p:nvSpPr>
        <p:spPr>
          <a:xfrm>
            <a:off x="5166360" y="1353312"/>
            <a:ext cx="3429000" cy="420624"/>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Authorization: </a:t>
            </a:r>
            <a:r>
              <a:rPr lang="en-US" sz="1400" dirty="0">
                <a:solidFill>
                  <a:srgbClr val="E6EDF7"/>
                </a:solidFill>
                <a:latin typeface="Calibri" pitchFamily="34" charset="0"/>
                <a:ea typeface="Calibri" pitchFamily="34" charset="-122"/>
                <a:cs typeface="Calibri" pitchFamily="34" charset="-120"/>
              </a:rPr>
              <a:t>respect policies, channels</a:t>
            </a:r>
            <a:endParaRPr lang="en-US" sz="1400" dirty="0"/>
          </a:p>
        </p:txBody>
      </p:sp>
      <p:sp>
        <p:nvSpPr>
          <p:cNvPr id="40" name="Shape 28"/>
          <p:cNvSpPr/>
          <p:nvPr/>
        </p:nvSpPr>
        <p:spPr>
          <a:xfrm>
            <a:off x="4663440" y="1819656"/>
            <a:ext cx="4023360" cy="420624"/>
          </a:xfrm>
          <a:prstGeom prst="roundRect">
            <a:avLst>
              <a:gd name="adj" fmla="val 17391"/>
            </a:avLst>
          </a:prstGeom>
          <a:solidFill>
            <a:srgbClr val="121C30"/>
          </a:solidFill>
          <a:ln w="12700">
            <a:solidFill>
              <a:srgbClr val="1F3150"/>
            </a:solidFill>
            <a:prstDash val="solid"/>
          </a:ln>
        </p:spPr>
      </p:sp>
      <p:sp>
        <p:nvSpPr>
          <p:cNvPr id="41" name="Shape 29"/>
          <p:cNvSpPr/>
          <p:nvPr/>
        </p:nvSpPr>
        <p:spPr>
          <a:xfrm>
            <a:off x="4754880" y="1874520"/>
            <a:ext cx="310896" cy="310896"/>
          </a:xfrm>
          <a:prstGeom prst="ellipse">
            <a:avLst/>
          </a:prstGeom>
          <a:solidFill>
            <a:srgbClr val="121C30"/>
          </a:solidFill>
          <a:ln w="12700">
            <a:solidFill>
              <a:srgbClr val="22D3EE"/>
            </a:solidFill>
            <a:prstDash val="solid"/>
          </a:ln>
        </p:spPr>
      </p:sp>
      <p:pic>
        <p:nvPicPr>
          <p:cNvPr id="42" name="Image 9" descr="preencoded.png"/>
          <p:cNvPicPr>
            <a:picLocks noChangeAspect="1"/>
          </p:cNvPicPr>
          <p:nvPr/>
        </p:nvPicPr>
        <p:blipFill>
          <a:blip r:embed="rId3"/>
          <a:stretch>
            <a:fillRect/>
          </a:stretch>
        </p:blipFill>
        <p:spPr>
          <a:xfrm>
            <a:off x="4829495" y="1949135"/>
            <a:ext cx="161666" cy="161666"/>
          </a:xfrm>
          <a:prstGeom prst="rect">
            <a:avLst/>
          </a:prstGeom>
        </p:spPr>
      </p:pic>
      <p:sp>
        <p:nvSpPr>
          <p:cNvPr id="43" name="Text 30"/>
          <p:cNvSpPr txBox="1"/>
          <p:nvPr/>
        </p:nvSpPr>
        <p:spPr>
          <a:xfrm>
            <a:off x="5166360" y="1819656"/>
            <a:ext cx="3429000" cy="420624"/>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Responsibility: </a:t>
            </a:r>
            <a:r>
              <a:rPr lang="en-US" sz="1400" dirty="0">
                <a:solidFill>
                  <a:srgbClr val="E6EDF7"/>
                </a:solidFill>
                <a:latin typeface="Calibri" pitchFamily="34" charset="0"/>
                <a:ea typeface="Calibri" pitchFamily="34" charset="-122"/>
                <a:cs typeface="Calibri" pitchFamily="34" charset="-120"/>
              </a:rPr>
              <a:t>consider consequences</a:t>
            </a:r>
            <a:endParaRPr lang="en-US" sz="1400" dirty="0"/>
          </a:p>
        </p:txBody>
      </p:sp>
      <p:sp>
        <p:nvSpPr>
          <p:cNvPr id="44" name="Shape 31"/>
          <p:cNvSpPr/>
          <p:nvPr/>
        </p:nvSpPr>
        <p:spPr>
          <a:xfrm>
            <a:off x="4663440" y="2286000"/>
            <a:ext cx="4023360" cy="420624"/>
          </a:xfrm>
          <a:prstGeom prst="roundRect">
            <a:avLst>
              <a:gd name="adj" fmla="val 17391"/>
            </a:avLst>
          </a:prstGeom>
          <a:solidFill>
            <a:srgbClr val="121C30"/>
          </a:solidFill>
          <a:ln w="12700">
            <a:solidFill>
              <a:srgbClr val="1F3150"/>
            </a:solidFill>
            <a:prstDash val="solid"/>
          </a:ln>
        </p:spPr>
      </p:sp>
      <p:sp>
        <p:nvSpPr>
          <p:cNvPr id="45" name="Shape 32"/>
          <p:cNvSpPr/>
          <p:nvPr/>
        </p:nvSpPr>
        <p:spPr>
          <a:xfrm>
            <a:off x="4754880" y="2340864"/>
            <a:ext cx="310896" cy="310896"/>
          </a:xfrm>
          <a:prstGeom prst="ellipse">
            <a:avLst/>
          </a:prstGeom>
          <a:solidFill>
            <a:srgbClr val="121C30"/>
          </a:solidFill>
          <a:ln w="12700">
            <a:solidFill>
              <a:srgbClr val="22D3EE"/>
            </a:solidFill>
            <a:prstDash val="solid"/>
          </a:ln>
        </p:spPr>
      </p:sp>
      <p:pic>
        <p:nvPicPr>
          <p:cNvPr id="46" name="Image 10" descr="preencoded.png"/>
          <p:cNvPicPr>
            <a:picLocks noChangeAspect="1"/>
          </p:cNvPicPr>
          <p:nvPr/>
        </p:nvPicPr>
        <p:blipFill>
          <a:blip r:embed="rId12"/>
          <a:stretch>
            <a:fillRect/>
          </a:stretch>
        </p:blipFill>
        <p:spPr>
          <a:xfrm>
            <a:off x="4829495" y="2415479"/>
            <a:ext cx="161666" cy="161666"/>
          </a:xfrm>
          <a:prstGeom prst="rect">
            <a:avLst/>
          </a:prstGeom>
        </p:spPr>
      </p:pic>
      <p:sp>
        <p:nvSpPr>
          <p:cNvPr id="47" name="Text 33"/>
          <p:cNvSpPr txBox="1"/>
          <p:nvPr/>
        </p:nvSpPr>
        <p:spPr>
          <a:xfrm>
            <a:off x="5166360" y="2286000"/>
            <a:ext cx="3429000" cy="420624"/>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Confidentiality: </a:t>
            </a:r>
            <a:r>
              <a:rPr lang="en-US" sz="1400" dirty="0">
                <a:solidFill>
                  <a:srgbClr val="E6EDF7"/>
                </a:solidFill>
                <a:latin typeface="Calibri" pitchFamily="34" charset="0"/>
                <a:ea typeface="Calibri" pitchFamily="34" charset="-122"/>
                <a:cs typeface="Calibri" pitchFamily="34" charset="-120"/>
              </a:rPr>
              <a:t>avoid exposing data</a:t>
            </a:r>
            <a:endParaRPr lang="en-US" sz="1400" dirty="0"/>
          </a:p>
        </p:txBody>
      </p:sp>
      <p:sp>
        <p:nvSpPr>
          <p:cNvPr id="48" name="Shape 34"/>
          <p:cNvSpPr/>
          <p:nvPr/>
        </p:nvSpPr>
        <p:spPr>
          <a:xfrm>
            <a:off x="4663440" y="2752344"/>
            <a:ext cx="4023360" cy="420624"/>
          </a:xfrm>
          <a:prstGeom prst="roundRect">
            <a:avLst>
              <a:gd name="adj" fmla="val 17391"/>
            </a:avLst>
          </a:prstGeom>
          <a:solidFill>
            <a:srgbClr val="121C30"/>
          </a:solidFill>
          <a:ln w="12700">
            <a:solidFill>
              <a:srgbClr val="1F3150"/>
            </a:solidFill>
            <a:prstDash val="solid"/>
          </a:ln>
        </p:spPr>
      </p:sp>
      <p:sp>
        <p:nvSpPr>
          <p:cNvPr id="49" name="Shape 35"/>
          <p:cNvSpPr/>
          <p:nvPr/>
        </p:nvSpPr>
        <p:spPr>
          <a:xfrm>
            <a:off x="4754880" y="2807208"/>
            <a:ext cx="310896" cy="310896"/>
          </a:xfrm>
          <a:prstGeom prst="ellipse">
            <a:avLst/>
          </a:prstGeom>
          <a:solidFill>
            <a:srgbClr val="121C30"/>
          </a:solidFill>
          <a:ln w="12700">
            <a:solidFill>
              <a:srgbClr val="22D3EE"/>
            </a:solidFill>
            <a:prstDash val="solid"/>
          </a:ln>
        </p:spPr>
      </p:sp>
      <p:pic>
        <p:nvPicPr>
          <p:cNvPr id="50" name="Image 11" descr="preencoded.png"/>
          <p:cNvPicPr>
            <a:picLocks noChangeAspect="1"/>
          </p:cNvPicPr>
          <p:nvPr/>
        </p:nvPicPr>
        <p:blipFill>
          <a:blip r:embed="rId13"/>
          <a:stretch>
            <a:fillRect/>
          </a:stretch>
        </p:blipFill>
        <p:spPr>
          <a:xfrm>
            <a:off x="4829495" y="2881823"/>
            <a:ext cx="161666" cy="161666"/>
          </a:xfrm>
          <a:prstGeom prst="rect">
            <a:avLst/>
          </a:prstGeom>
        </p:spPr>
      </p:pic>
      <p:sp>
        <p:nvSpPr>
          <p:cNvPr id="51" name="Text 36"/>
          <p:cNvSpPr txBox="1"/>
          <p:nvPr/>
        </p:nvSpPr>
        <p:spPr>
          <a:xfrm>
            <a:off x="5166360" y="2752344"/>
            <a:ext cx="3429000" cy="420624"/>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Non-maleficence: </a:t>
            </a:r>
            <a:r>
              <a:rPr lang="en-US" sz="1400" dirty="0">
                <a:solidFill>
                  <a:srgbClr val="E6EDF7"/>
                </a:solidFill>
                <a:latin typeface="Calibri" pitchFamily="34" charset="0"/>
                <a:ea typeface="Calibri" pitchFamily="34" charset="-122"/>
                <a:cs typeface="Calibri" pitchFamily="34" charset="-120"/>
              </a:rPr>
              <a:t>avoid unnecessary harm</a:t>
            </a:r>
            <a:endParaRPr lang="en-US" sz="1400" dirty="0"/>
          </a:p>
        </p:txBody>
      </p:sp>
      <p:sp>
        <p:nvSpPr>
          <p:cNvPr id="52" name="Shape 37"/>
          <p:cNvSpPr/>
          <p:nvPr/>
        </p:nvSpPr>
        <p:spPr>
          <a:xfrm>
            <a:off x="4663440" y="3218688"/>
            <a:ext cx="4023360" cy="420624"/>
          </a:xfrm>
          <a:prstGeom prst="roundRect">
            <a:avLst>
              <a:gd name="adj" fmla="val 17391"/>
            </a:avLst>
          </a:prstGeom>
          <a:solidFill>
            <a:srgbClr val="121C30"/>
          </a:solidFill>
          <a:ln w="12700">
            <a:solidFill>
              <a:srgbClr val="1F3150"/>
            </a:solidFill>
            <a:prstDash val="solid"/>
          </a:ln>
        </p:spPr>
      </p:sp>
      <p:sp>
        <p:nvSpPr>
          <p:cNvPr id="53" name="Shape 38"/>
          <p:cNvSpPr/>
          <p:nvPr/>
        </p:nvSpPr>
        <p:spPr>
          <a:xfrm>
            <a:off x="4754880" y="3273552"/>
            <a:ext cx="310896" cy="310896"/>
          </a:xfrm>
          <a:prstGeom prst="ellipse">
            <a:avLst/>
          </a:prstGeom>
          <a:solidFill>
            <a:srgbClr val="121C30"/>
          </a:solidFill>
          <a:ln w="12700">
            <a:solidFill>
              <a:srgbClr val="22D3EE"/>
            </a:solidFill>
            <a:prstDash val="solid"/>
          </a:ln>
        </p:spPr>
      </p:sp>
      <p:pic>
        <p:nvPicPr>
          <p:cNvPr id="54" name="Image 12" descr="preencoded.png"/>
          <p:cNvPicPr>
            <a:picLocks noChangeAspect="1"/>
          </p:cNvPicPr>
          <p:nvPr/>
        </p:nvPicPr>
        <p:blipFill>
          <a:blip r:embed="rId14"/>
          <a:stretch>
            <a:fillRect/>
          </a:stretch>
        </p:blipFill>
        <p:spPr>
          <a:xfrm>
            <a:off x="4829495" y="3348167"/>
            <a:ext cx="161666" cy="161666"/>
          </a:xfrm>
          <a:prstGeom prst="rect">
            <a:avLst/>
          </a:prstGeom>
        </p:spPr>
      </p:pic>
      <p:sp>
        <p:nvSpPr>
          <p:cNvPr id="55" name="Text 39"/>
          <p:cNvSpPr txBox="1"/>
          <p:nvPr/>
        </p:nvSpPr>
        <p:spPr>
          <a:xfrm>
            <a:off x="5166360" y="3218688"/>
            <a:ext cx="3429000" cy="420624"/>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Integrity: </a:t>
            </a:r>
            <a:r>
              <a:rPr lang="en-US" sz="1400" dirty="0">
                <a:solidFill>
                  <a:srgbClr val="E6EDF7"/>
                </a:solidFill>
                <a:latin typeface="Calibri" pitchFamily="34" charset="0"/>
                <a:ea typeface="Calibri" pitchFamily="34" charset="-122"/>
                <a:cs typeface="Calibri" pitchFamily="34" charset="-120"/>
              </a:rPr>
              <a:t>act honestly, professionally</a:t>
            </a:r>
            <a:endParaRPr lang="en-US" sz="1400" dirty="0"/>
          </a:p>
        </p:txBody>
      </p:sp>
      <p:sp>
        <p:nvSpPr>
          <p:cNvPr id="56" name="Shape 40"/>
          <p:cNvSpPr/>
          <p:nvPr/>
        </p:nvSpPr>
        <p:spPr>
          <a:xfrm>
            <a:off x="4663440" y="3685032"/>
            <a:ext cx="4023360" cy="420624"/>
          </a:xfrm>
          <a:prstGeom prst="roundRect">
            <a:avLst>
              <a:gd name="adj" fmla="val 17391"/>
            </a:avLst>
          </a:prstGeom>
          <a:solidFill>
            <a:srgbClr val="121C30"/>
          </a:solidFill>
          <a:ln w="12700">
            <a:solidFill>
              <a:srgbClr val="1F3150"/>
            </a:solidFill>
            <a:prstDash val="solid"/>
          </a:ln>
        </p:spPr>
      </p:sp>
      <p:sp>
        <p:nvSpPr>
          <p:cNvPr id="57" name="Shape 41"/>
          <p:cNvSpPr/>
          <p:nvPr/>
        </p:nvSpPr>
        <p:spPr>
          <a:xfrm>
            <a:off x="4754880" y="3739896"/>
            <a:ext cx="310896" cy="310896"/>
          </a:xfrm>
          <a:prstGeom prst="ellipse">
            <a:avLst/>
          </a:prstGeom>
          <a:solidFill>
            <a:srgbClr val="121C30"/>
          </a:solidFill>
          <a:ln w="12700">
            <a:solidFill>
              <a:srgbClr val="22D3EE"/>
            </a:solidFill>
            <a:prstDash val="solid"/>
          </a:ln>
        </p:spPr>
      </p:sp>
      <p:pic>
        <p:nvPicPr>
          <p:cNvPr id="58" name="Image 13" descr="preencoded.png"/>
          <p:cNvPicPr>
            <a:picLocks noChangeAspect="1"/>
          </p:cNvPicPr>
          <p:nvPr/>
        </p:nvPicPr>
        <p:blipFill>
          <a:blip r:embed="rId15"/>
          <a:stretch>
            <a:fillRect/>
          </a:stretch>
        </p:blipFill>
        <p:spPr>
          <a:xfrm>
            <a:off x="4829495" y="3814511"/>
            <a:ext cx="161666" cy="161666"/>
          </a:xfrm>
          <a:prstGeom prst="rect">
            <a:avLst/>
          </a:prstGeom>
        </p:spPr>
      </p:pic>
      <p:sp>
        <p:nvSpPr>
          <p:cNvPr id="59" name="Text 42"/>
          <p:cNvSpPr txBox="1"/>
          <p:nvPr/>
        </p:nvSpPr>
        <p:spPr>
          <a:xfrm>
            <a:off x="5166360" y="3685032"/>
            <a:ext cx="3429000" cy="420624"/>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Public safety: </a:t>
            </a:r>
            <a:r>
              <a:rPr lang="en-US" sz="1400" dirty="0">
                <a:solidFill>
                  <a:srgbClr val="E6EDF7"/>
                </a:solidFill>
                <a:latin typeface="Calibri" pitchFamily="34" charset="0"/>
                <a:ea typeface="Calibri" pitchFamily="34" charset="-122"/>
                <a:cs typeface="Calibri" pitchFamily="34" charset="-120"/>
              </a:rPr>
              <a:t>protect users, systems</a:t>
            </a:r>
            <a:endParaRPr lang="en-US" sz="1400" dirty="0"/>
          </a:p>
        </p:txBody>
      </p:sp>
      <p:sp>
        <p:nvSpPr>
          <p:cNvPr id="60" name="Shape 43"/>
          <p:cNvSpPr/>
          <p:nvPr/>
        </p:nvSpPr>
        <p:spPr>
          <a:xfrm>
            <a:off x="4663440" y="4151376"/>
            <a:ext cx="4023360" cy="420624"/>
          </a:xfrm>
          <a:prstGeom prst="roundRect">
            <a:avLst>
              <a:gd name="adj" fmla="val 17391"/>
            </a:avLst>
          </a:prstGeom>
          <a:solidFill>
            <a:srgbClr val="0F2A3A"/>
          </a:solidFill>
          <a:ln w="12700">
            <a:solidFill>
              <a:srgbClr val="22D3EE"/>
            </a:solidFill>
            <a:prstDash val="solid"/>
          </a:ln>
        </p:spPr>
      </p:sp>
      <p:sp>
        <p:nvSpPr>
          <p:cNvPr id="61" name="Text 44"/>
          <p:cNvSpPr txBox="1"/>
          <p:nvPr/>
        </p:nvSpPr>
        <p:spPr>
          <a:xfrm>
            <a:off x="4800600" y="4151376"/>
            <a:ext cx="3749040" cy="420624"/>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"Security research should minimize harm."</a:t>
            </a:r>
            <a:endParaRPr lang="en-US" sz="1400" dirty="0"/>
          </a:p>
        </p:txBody>
      </p:sp>
      <p:sp>
        <p:nvSpPr>
          <p:cNvPr id="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0F2A3A"/>
          </a:solidFill>
          <a:ln w="12700">
            <a:solidFill>
              <a:srgbClr val="22D3EE"/>
            </a:solidFill>
            <a:prstDash val="solid"/>
          </a:ln>
        </p:spPr>
      </p:sp>
      <p:pic>
        <p:nvPicPr>
          <p:cNvPr id="3" name="Image 0" descr="preencoded.png"/>
          <p:cNvPicPr>
            <a:picLocks noChangeAspect="1"/>
          </p:cNvPicPr>
          <p:nvPr/>
        </p:nvPicPr>
        <p:blipFill>
          <a:blip r:embed="rId3"/>
          <a:stretch>
            <a:fillRect/>
          </a:stretch>
        </p:blipFill>
        <p:spPr>
          <a:xfrm>
            <a:off x="588874" y="451714"/>
            <a:ext cx="285293" cy="285293"/>
          </a:xfrm>
          <a:prstGeom prst="rect">
            <a:avLst/>
          </a:prstGeom>
        </p:spPr>
      </p:pic>
      <p:sp>
        <p:nvSpPr>
          <p:cNvPr id="4" name="Text 1"/>
          <p:cNvSpPr txBox="1"/>
          <p:nvPr/>
        </p:nvSpPr>
        <p:spPr>
          <a:xfrm>
            <a:off x="1188720" y="320040"/>
            <a:ext cx="749808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Responsible vs Irresponsible Disclosure</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10896">
                <a:tc>
                  <a:txBody>
                    <a:bodyPr/>
                    <a:lstStyle/>
                    <a:p>
                      <a:pPr marL="0" indent="0" algn="ctr">
                        <a:buNone/>
                      </a:pPr>
                      <a:r>
                        <a:rPr lang="en-US" sz="1400" b="1" dirty="0">
                          <a:solidFill>
                            <a:srgbClr val="0B1220"/>
                          </a:solidFill>
                          <a:latin typeface="Calibri" pitchFamily="34" charset="0"/>
                          <a:ea typeface="Calibri" pitchFamily="34" charset="-122"/>
                          <a:cs typeface="Calibri" pitchFamily="34" charset="-120"/>
                        </a:rPr>
                        <a:t>RESPONSIBLE DISCLOSURE</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34D399"/>
                    </a:solidFill>
                  </a:tcPr>
                </a:tc>
                <a:tc>
                  <a:txBody>
                    <a:bodyPr/>
                    <a:lstStyle/>
                    <a:p>
                      <a:pPr marL="0" indent="0" algn="ctr">
                        <a:buNone/>
                      </a:pPr>
                      <a:r>
                        <a:rPr lang="en-US" sz="1400" b="1" dirty="0">
                          <a:solidFill>
                            <a:srgbClr val="0B1220"/>
                          </a:solidFill>
                          <a:latin typeface="Calibri" pitchFamily="34" charset="0"/>
                          <a:ea typeface="Calibri" pitchFamily="34" charset="-122"/>
                          <a:cs typeface="Calibri" pitchFamily="34" charset="-120"/>
                        </a:rPr>
                        <a:t>IRRESPONSIBLE DISCLOSURE</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F87171"/>
                    </a:solidFill>
                  </a:tcPr>
                </a:tc>
                <a:extLst>
                  <a:ext uri="{0D108BD9-81ED-4DB2-BD59-A6C34878D82A}">
                    <a16:rowId xmlns:a16="http://schemas.microsoft.com/office/drawing/2014/main" val="10000"/>
                  </a:ext>
                </a:extLst>
              </a:tr>
              <a:tr h="310896">
                <a:tc>
                  <a:txBody>
                    <a:bodyPr/>
                    <a:lstStyle/>
                    <a:p>
                      <a:pPr marL="0" indent="0">
                        <a:buNone/>
                      </a:pPr>
                      <a:r>
                        <a:rPr lang="en-US" sz="1400" dirty="0">
                          <a:solidFill>
                            <a:srgbClr val="E6EDF7"/>
                          </a:solidFill>
                          <a:latin typeface="Calibri" pitchFamily="34" charset="0"/>
                          <a:ea typeface="Calibri" pitchFamily="34" charset="-122"/>
                          <a:cs typeface="Calibri" pitchFamily="34" charset="-120"/>
                        </a:rPr>
                        <a:t>Private reporting</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121C30"/>
                    </a:solidFill>
                  </a:tcPr>
                </a:tc>
                <a:tc>
                  <a:txBody>
                    <a:bodyPr/>
                    <a:lstStyle/>
                    <a:p>
                      <a:pPr marL="0" indent="0">
                        <a:buNone/>
                      </a:pPr>
                      <a:r>
                        <a:rPr lang="en-US" sz="1400" dirty="0">
                          <a:solidFill>
                            <a:srgbClr val="E6EDF7"/>
                          </a:solidFill>
                          <a:latin typeface="Calibri" pitchFamily="34" charset="0"/>
                          <a:ea typeface="Calibri" pitchFamily="34" charset="-122"/>
                          <a:cs typeface="Calibri" pitchFamily="34" charset="-120"/>
                        </a:rPr>
                        <a:t>Immediate public exposure</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310896">
                <a:tc>
                  <a:txBody>
                    <a:bodyPr/>
                    <a:lstStyle/>
                    <a:p>
                      <a:pPr marL="0" indent="0">
                        <a:buNone/>
                      </a:pPr>
                      <a:r>
                        <a:rPr lang="en-US" sz="1400" dirty="0">
                          <a:solidFill>
                            <a:srgbClr val="E6EDF7"/>
                          </a:solidFill>
                          <a:latin typeface="Calibri" pitchFamily="34" charset="0"/>
                          <a:ea typeface="Calibri" pitchFamily="34" charset="-122"/>
                          <a:cs typeface="Calibri" pitchFamily="34" charset="-120"/>
                        </a:rPr>
                        <a:t>Follow bug-bounty rules</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121C30"/>
                    </a:solidFill>
                  </a:tcPr>
                </a:tc>
                <a:tc>
                  <a:txBody>
                    <a:bodyPr/>
                    <a:lstStyle/>
                    <a:p>
                      <a:pPr marL="0" indent="0">
                        <a:buNone/>
                      </a:pPr>
                      <a:r>
                        <a:rPr lang="en-US" sz="1400" dirty="0">
                          <a:solidFill>
                            <a:srgbClr val="E6EDF7"/>
                          </a:solidFill>
                          <a:latin typeface="Calibri" pitchFamily="34" charset="0"/>
                          <a:ea typeface="Calibri" pitchFamily="34" charset="-122"/>
                          <a:cs typeface="Calibri" pitchFamily="34" charset="-120"/>
                        </a:rPr>
                        <a:t>Ignore reporting procedures</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2A1620"/>
                    </a:solidFill>
                  </a:tcPr>
                </a:tc>
                <a:extLst>
                  <a:ext uri="{0D108BD9-81ED-4DB2-BD59-A6C34878D82A}">
                    <a16:rowId xmlns:a16="http://schemas.microsoft.com/office/drawing/2014/main" val="10002"/>
                  </a:ext>
                </a:extLst>
              </a:tr>
              <a:tr h="310896">
                <a:tc>
                  <a:txBody>
                    <a:bodyPr/>
                    <a:lstStyle/>
                    <a:p>
                      <a:pPr marL="0" indent="0">
                        <a:buNone/>
                      </a:pPr>
                      <a:r>
                        <a:rPr lang="en-US" sz="1400" dirty="0">
                          <a:solidFill>
                            <a:srgbClr val="E6EDF7"/>
                          </a:solidFill>
                          <a:latin typeface="Calibri" pitchFamily="34" charset="0"/>
                          <a:ea typeface="Calibri" pitchFamily="34" charset="-122"/>
                          <a:cs typeface="Calibri" pitchFamily="34" charset="-120"/>
                        </a:rPr>
                        <a:t>Communicate with the organization</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121C30"/>
                    </a:solidFill>
                  </a:tcPr>
                </a:tc>
                <a:tc>
                  <a:txBody>
                    <a:bodyPr/>
                    <a:lstStyle/>
                    <a:p>
                      <a:pPr marL="0" indent="0">
                        <a:buNone/>
                      </a:pPr>
                      <a:r>
                        <a:rPr lang="en-US" sz="1400" dirty="0">
                          <a:solidFill>
                            <a:srgbClr val="E6EDF7"/>
                          </a:solidFill>
                          <a:latin typeface="Calibri" pitchFamily="34" charset="0"/>
                          <a:ea typeface="Calibri" pitchFamily="34" charset="-122"/>
                          <a:cs typeface="Calibri" pitchFamily="34" charset="-120"/>
                        </a:rPr>
                        <a:t>Pressure organization for payment</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2A1620"/>
                    </a:solidFill>
                  </a:tcPr>
                </a:tc>
                <a:extLst>
                  <a:ext uri="{0D108BD9-81ED-4DB2-BD59-A6C34878D82A}">
                    <a16:rowId xmlns:a16="http://schemas.microsoft.com/office/drawing/2014/main" val="10003"/>
                  </a:ext>
                </a:extLst>
              </a:tr>
              <a:tr h="310896">
                <a:tc>
                  <a:txBody>
                    <a:bodyPr/>
                    <a:lstStyle/>
                    <a:p>
                      <a:pPr marL="0" indent="0">
                        <a:buNone/>
                      </a:pPr>
                      <a:r>
                        <a:rPr lang="en-US" sz="1400" dirty="0">
                          <a:solidFill>
                            <a:srgbClr val="E6EDF7"/>
                          </a:solidFill>
                          <a:latin typeface="Calibri" pitchFamily="34" charset="0"/>
                          <a:ea typeface="Calibri" pitchFamily="34" charset="-122"/>
                          <a:cs typeface="Calibri" pitchFamily="34" charset="-120"/>
                        </a:rPr>
                        <a:t>Allow time for remediation</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121C30"/>
                    </a:solidFill>
                  </a:tcPr>
                </a:tc>
                <a:tc>
                  <a:txBody>
                    <a:bodyPr/>
                    <a:lstStyle/>
                    <a:p>
                      <a:pPr marL="0" indent="0">
                        <a:buNone/>
                      </a:pPr>
                      <a:r>
                        <a:rPr lang="en-US" sz="1400" dirty="0">
                          <a:solidFill>
                            <a:srgbClr val="E6EDF7"/>
                          </a:solidFill>
                          <a:latin typeface="Calibri" pitchFamily="34" charset="0"/>
                          <a:ea typeface="Calibri" pitchFamily="34" charset="-122"/>
                          <a:cs typeface="Calibri" pitchFamily="34" charset="-120"/>
                        </a:rPr>
                        <a:t>Increase potential risk</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2A1620"/>
                    </a:solidFill>
                  </a:tcPr>
                </a:tc>
                <a:extLst>
                  <a:ext uri="{0D108BD9-81ED-4DB2-BD59-A6C34878D82A}">
                    <a16:rowId xmlns:a16="http://schemas.microsoft.com/office/drawing/2014/main" val="10004"/>
                  </a:ext>
                </a:extLst>
              </a:tr>
              <a:tr h="310896">
                <a:tc>
                  <a:txBody>
                    <a:bodyPr/>
                    <a:lstStyle/>
                    <a:p>
                      <a:pPr marL="0" indent="0">
                        <a:buNone/>
                      </a:pPr>
                      <a:r>
                        <a:rPr lang="en-US" sz="1400" dirty="0">
                          <a:solidFill>
                            <a:srgbClr val="E6EDF7"/>
                          </a:solidFill>
                          <a:latin typeface="Calibri" pitchFamily="34" charset="0"/>
                          <a:ea typeface="Calibri" pitchFamily="34" charset="-122"/>
                          <a:cs typeface="Calibri" pitchFamily="34" charset="-120"/>
                        </a:rPr>
                        <a:t>Prioritize user safety</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121C30"/>
                    </a:solidFill>
                  </a:tcPr>
                </a:tc>
                <a:tc>
                  <a:txBody>
                    <a:bodyPr/>
                    <a:lstStyle/>
                    <a:p>
                      <a:pPr marL="0" indent="0">
                        <a:buNone/>
                      </a:pPr>
                      <a:r>
                        <a:rPr lang="en-US" sz="1400" dirty="0">
                          <a:solidFill>
                            <a:srgbClr val="E6EDF7"/>
                          </a:solidFill>
                          <a:latin typeface="Calibri" pitchFamily="34" charset="0"/>
                          <a:ea typeface="Calibri" pitchFamily="34" charset="-122"/>
                          <a:cs typeface="Calibri" pitchFamily="34" charset="-120"/>
                        </a:rPr>
                        <a:t>Prioritize personal benefit</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2A1620"/>
                    </a:solidFill>
                  </a:tcPr>
                </a:tc>
                <a:extLst>
                  <a:ext uri="{0D108BD9-81ED-4DB2-BD59-A6C34878D82A}">
                    <a16:rowId xmlns:a16="http://schemas.microsoft.com/office/drawing/2014/main" val="10005"/>
                  </a:ext>
                </a:extLst>
              </a:tr>
              <a:tr h="310896">
                <a:tc>
                  <a:txBody>
                    <a:bodyPr/>
                    <a:lstStyle/>
                    <a:p>
                      <a:pPr marL="0" indent="0">
                        <a:buNone/>
                      </a:pPr>
                      <a:r>
                        <a:rPr lang="en-US" sz="1400" dirty="0">
                          <a:solidFill>
                            <a:srgbClr val="E6EDF7"/>
                          </a:solidFill>
                          <a:latin typeface="Calibri" pitchFamily="34" charset="0"/>
                          <a:ea typeface="Calibri" pitchFamily="34" charset="-122"/>
                          <a:cs typeface="Calibri" pitchFamily="34" charset="-120"/>
                        </a:rPr>
                        <a:t>Coordinate public disclosure</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121C30"/>
                    </a:solidFill>
                  </a:tcPr>
                </a:tc>
                <a:tc>
                  <a:txBody>
                    <a:bodyPr/>
                    <a:lstStyle/>
                    <a:p>
                      <a:pPr marL="0" indent="0">
                        <a:buNone/>
                      </a:pPr>
                      <a:r>
                        <a:rPr lang="en-US" sz="1400" dirty="0">
                          <a:solidFill>
                            <a:srgbClr val="E6EDF7"/>
                          </a:solidFill>
                          <a:latin typeface="Calibri" pitchFamily="34" charset="0"/>
                          <a:ea typeface="Calibri" pitchFamily="34" charset="-122"/>
                          <a:cs typeface="Calibri" pitchFamily="34" charset="-120"/>
                        </a:rPr>
                        <a:t>Ignore possible impact on users</a:t>
                      </a:r>
                      <a:endParaRPr lang="en-US" sz="1400" dirty="0">
                        <a:latin typeface="Calibri" charset="0"/>
                        <a:ea typeface="Calibri" charset="0"/>
                        <a:cs typeface="Calibri" charset="0"/>
                      </a:endParaRPr>
                    </a:p>
                  </a:txBody>
                  <a:tcPr anchor="ctr">
                    <a:lnL w="12700" cap="flat" cmpd="sng" algn="ctr">
                      <a:solidFill>
                        <a:srgbClr val="1F3150"/>
                      </a:solidFill>
                      <a:prstDash val="solid"/>
                      <a:round/>
                      <a:headEnd type="none" w="med" len="med"/>
                      <a:tailEnd type="none" w="med" len="med"/>
                    </a:lnL>
                    <a:lnR w="12700" cap="flat" cmpd="sng" algn="ctr">
                      <a:solidFill>
                        <a:srgbClr val="1F3150"/>
                      </a:solidFill>
                      <a:prstDash val="solid"/>
                      <a:round/>
                      <a:headEnd type="none" w="med" len="med"/>
                      <a:tailEnd type="none" w="med" len="med"/>
                    </a:lnR>
                    <a:lnT w="12700" cap="flat" cmpd="sng" algn="ctr">
                      <a:solidFill>
                        <a:srgbClr val="1F3150"/>
                      </a:solidFill>
                      <a:prstDash val="solid"/>
                      <a:round/>
                      <a:headEnd type="none" w="med" len="med"/>
                      <a:tailEnd type="none" w="med" len="med"/>
                    </a:lnT>
                    <a:lnB w="12700" cap="flat" cmpd="sng" algn="ctr">
                      <a:solidFill>
                        <a:srgbClr val="1F3150"/>
                      </a:solidFill>
                      <a:prstDash val="solid"/>
                      <a:round/>
                      <a:headEnd type="none" w="med" len="med"/>
                      <a:tailEnd type="none" w="med" len="med"/>
                    </a:lnB>
                    <a:solidFill>
                      <a:srgbClr val="2A1620"/>
                    </a:solidFill>
                  </a:tcPr>
                </a:tc>
                <a:extLst>
                  <a:ext uri="{0D108BD9-81ED-4DB2-BD59-A6C34878D82A}">
                    <a16:rowId xmlns:a16="http://schemas.microsoft.com/office/drawing/2014/main" val="10006"/>
                  </a:ext>
                </a:extLst>
              </a:tr>
            </a:tbl>
          </a:graphicData>
        </a:graphic>
      </p:graphicFrame>
      <p:sp>
        <p:nvSpPr>
          <p:cNvPr id="7" name="Text 2"/>
          <p:cNvSpPr txBox="1"/>
          <p:nvPr/>
        </p:nvSpPr>
        <p:spPr>
          <a:xfrm>
            <a:off x="457200" y="3383280"/>
            <a:ext cx="8229600" cy="274320"/>
          </a:xfrm>
          <a:prstGeom prst="rect">
            <a:avLst/>
          </a:prstGeom>
          <a:noFill/>
          <a:ln/>
        </p:spPr>
        <p:txBody>
          <a:bodyPr wrap="square" lIns="0" tIns="0" rIns="0" bIns="0" rtlCol="0" anchor="ctr"/>
          <a:lstStyle/>
          <a:p>
            <a:pPr marL="0" indent="0">
              <a:buNone/>
            </a:pPr>
            <a:r>
              <a:rPr lang="en-US" sz="1400" b="1" dirty="0">
                <a:solidFill>
                  <a:srgbClr val="34D399"/>
                </a:solidFill>
                <a:latin typeface="Calibri" pitchFamily="34" charset="0"/>
                <a:ea typeface="Calibri" pitchFamily="34" charset="-122"/>
                <a:cs typeface="Calibri" pitchFamily="34" charset="-120"/>
              </a:rPr>
              <a:t>Ethical alternative: </a:t>
            </a:r>
            <a:r>
              <a:rPr lang="en-US" sz="1400" dirty="0">
                <a:solidFill>
                  <a:srgbClr val="E6EDF7"/>
                </a:solidFill>
                <a:latin typeface="Calibri" pitchFamily="34" charset="0"/>
                <a:ea typeface="Calibri" pitchFamily="34" charset="-122"/>
                <a:cs typeface="Calibri" pitchFamily="34" charset="-120"/>
              </a:rPr>
              <a:t>protects users, respects the process, still rewards the researcher</a:t>
            </a:r>
            <a:endParaRPr lang="en-US" sz="1400" dirty="0"/>
          </a:p>
        </p:txBody>
      </p:sp>
      <p:sp>
        <p:nvSpPr>
          <p:cNvPr id="8" name="Shape 3"/>
          <p:cNvSpPr/>
          <p:nvPr/>
        </p:nvSpPr>
        <p:spPr>
          <a:xfrm>
            <a:off x="457200" y="3703320"/>
            <a:ext cx="1965960" cy="420624"/>
          </a:xfrm>
          <a:prstGeom prst="roundRect">
            <a:avLst>
              <a:gd name="adj" fmla="val 17391"/>
            </a:avLst>
          </a:prstGeom>
          <a:solidFill>
            <a:srgbClr val="121C30"/>
          </a:solidFill>
          <a:ln w="12700">
            <a:solidFill>
              <a:srgbClr val="1F3150"/>
            </a:solidFill>
            <a:prstDash val="solid"/>
          </a:ln>
        </p:spPr>
      </p:sp>
      <p:sp>
        <p:nvSpPr>
          <p:cNvPr id="5" name="Shape 4"/>
          <p:cNvSpPr/>
          <p:nvPr/>
        </p:nvSpPr>
        <p:spPr>
          <a:xfrm>
            <a:off x="530352" y="3785616"/>
            <a:ext cx="256032" cy="256032"/>
          </a:xfrm>
          <a:prstGeom prst="ellipse">
            <a:avLst/>
          </a:prstGeom>
          <a:solidFill>
            <a:srgbClr val="34D399"/>
          </a:solidFill>
          <a:ln w="12700">
            <a:solidFill>
              <a:srgbClr val="34D399"/>
            </a:solidFill>
            <a:prstDash val="solid"/>
          </a:ln>
        </p:spPr>
      </p:sp>
      <p:sp>
        <p:nvSpPr>
          <p:cNvPr id="10" name="Text 5"/>
          <p:cNvSpPr txBox="1"/>
          <p:nvPr/>
        </p:nvSpPr>
        <p:spPr>
          <a:xfrm>
            <a:off x="530352" y="3785616"/>
            <a:ext cx="256032" cy="256032"/>
          </a:xfrm>
          <a:prstGeom prst="rect">
            <a:avLst/>
          </a:prstGeom>
          <a:noFill/>
          <a:ln/>
        </p:spPr>
        <p:txBody>
          <a:bodyPr wrap="square" lIns="0" tIns="0" rIns="0" bIns="0" rtlCol="0" anchor="ctr"/>
          <a:lstStyle/>
          <a:p>
            <a:pPr marL="0" indent="0" algn="ctr">
              <a:buNone/>
            </a:pPr>
            <a:r>
              <a:rPr lang="en-US" sz="1200" b="1" dirty="0">
                <a:solidFill>
                  <a:srgbClr val="0B1220"/>
                </a:solidFill>
                <a:latin typeface="Calibri" pitchFamily="34" charset="0"/>
                <a:ea typeface="Calibri" pitchFamily="34" charset="-122"/>
                <a:cs typeface="Calibri" pitchFamily="34" charset="-120"/>
              </a:rPr>
              <a:t>1</a:t>
            </a:r>
            <a:endParaRPr lang="en-US" sz="1200" dirty="0"/>
          </a:p>
        </p:txBody>
      </p:sp>
      <p:sp>
        <p:nvSpPr>
          <p:cNvPr id="11" name="Text 6"/>
          <p:cNvSpPr txBox="1"/>
          <p:nvPr/>
        </p:nvSpPr>
        <p:spPr>
          <a:xfrm>
            <a:off x="868680" y="3703320"/>
            <a:ext cx="1508760" cy="420624"/>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Discover the flaw</a:t>
            </a:r>
            <a:endParaRPr lang="en-US" sz="1400" dirty="0"/>
          </a:p>
        </p:txBody>
      </p:sp>
      <p:sp>
        <p:nvSpPr>
          <p:cNvPr id="12" name="Shape 7"/>
          <p:cNvSpPr/>
          <p:nvPr/>
        </p:nvSpPr>
        <p:spPr>
          <a:xfrm>
            <a:off x="2560320" y="3703320"/>
            <a:ext cx="1965960" cy="420624"/>
          </a:xfrm>
          <a:prstGeom prst="roundRect">
            <a:avLst>
              <a:gd name="adj" fmla="val 17391"/>
            </a:avLst>
          </a:prstGeom>
          <a:solidFill>
            <a:srgbClr val="121C30"/>
          </a:solidFill>
          <a:ln w="12700">
            <a:solidFill>
              <a:srgbClr val="1F3150"/>
            </a:solidFill>
            <a:prstDash val="solid"/>
          </a:ln>
        </p:spPr>
      </p:sp>
      <p:sp>
        <p:nvSpPr>
          <p:cNvPr id="13" name="Shape 8"/>
          <p:cNvSpPr/>
          <p:nvPr/>
        </p:nvSpPr>
        <p:spPr>
          <a:xfrm>
            <a:off x="2633472" y="3785616"/>
            <a:ext cx="256032" cy="256032"/>
          </a:xfrm>
          <a:prstGeom prst="ellipse">
            <a:avLst/>
          </a:prstGeom>
          <a:solidFill>
            <a:srgbClr val="34D399"/>
          </a:solidFill>
          <a:ln w="12700">
            <a:solidFill>
              <a:srgbClr val="34D399"/>
            </a:solidFill>
            <a:prstDash val="solid"/>
          </a:ln>
        </p:spPr>
      </p:sp>
      <p:sp>
        <p:nvSpPr>
          <p:cNvPr id="14" name="Text 9"/>
          <p:cNvSpPr txBox="1"/>
          <p:nvPr/>
        </p:nvSpPr>
        <p:spPr>
          <a:xfrm>
            <a:off x="2633472" y="3785616"/>
            <a:ext cx="256032" cy="256032"/>
          </a:xfrm>
          <a:prstGeom prst="rect">
            <a:avLst/>
          </a:prstGeom>
          <a:noFill/>
          <a:ln/>
        </p:spPr>
        <p:txBody>
          <a:bodyPr wrap="square" lIns="0" tIns="0" rIns="0" bIns="0" rtlCol="0" anchor="ctr"/>
          <a:lstStyle/>
          <a:p>
            <a:pPr marL="0" indent="0" algn="ctr">
              <a:buNone/>
            </a:pPr>
            <a:r>
              <a:rPr lang="en-US" sz="1200" b="1" dirty="0">
                <a:solidFill>
                  <a:srgbClr val="0B1220"/>
                </a:solidFill>
                <a:latin typeface="Calibri" pitchFamily="34" charset="0"/>
                <a:ea typeface="Calibri" pitchFamily="34" charset="-122"/>
                <a:cs typeface="Calibri" pitchFamily="34" charset="-120"/>
              </a:rPr>
              <a:t>2</a:t>
            </a:r>
            <a:endParaRPr lang="en-US" sz="1200" dirty="0"/>
          </a:p>
        </p:txBody>
      </p:sp>
      <p:sp>
        <p:nvSpPr>
          <p:cNvPr id="15" name="Text 10"/>
          <p:cNvSpPr txBox="1"/>
          <p:nvPr/>
        </p:nvSpPr>
        <p:spPr>
          <a:xfrm>
            <a:off x="2971800" y="3703320"/>
            <a:ext cx="1508760" cy="420624"/>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Verify it safely</a:t>
            </a:r>
            <a:endParaRPr lang="en-US" sz="1400" dirty="0"/>
          </a:p>
        </p:txBody>
      </p:sp>
      <p:sp>
        <p:nvSpPr>
          <p:cNvPr id="16" name="Shape 11"/>
          <p:cNvSpPr/>
          <p:nvPr/>
        </p:nvSpPr>
        <p:spPr>
          <a:xfrm>
            <a:off x="4663440" y="3703320"/>
            <a:ext cx="1965960" cy="420624"/>
          </a:xfrm>
          <a:prstGeom prst="roundRect">
            <a:avLst>
              <a:gd name="adj" fmla="val 17391"/>
            </a:avLst>
          </a:prstGeom>
          <a:solidFill>
            <a:srgbClr val="121C30"/>
          </a:solidFill>
          <a:ln w="12700">
            <a:solidFill>
              <a:srgbClr val="1F3150"/>
            </a:solidFill>
            <a:prstDash val="solid"/>
          </a:ln>
        </p:spPr>
      </p:sp>
      <p:sp>
        <p:nvSpPr>
          <p:cNvPr id="17" name="Shape 12"/>
          <p:cNvSpPr/>
          <p:nvPr/>
        </p:nvSpPr>
        <p:spPr>
          <a:xfrm>
            <a:off x="4736592" y="3785616"/>
            <a:ext cx="256032" cy="256032"/>
          </a:xfrm>
          <a:prstGeom prst="ellipse">
            <a:avLst/>
          </a:prstGeom>
          <a:solidFill>
            <a:srgbClr val="34D399"/>
          </a:solidFill>
          <a:ln w="12700">
            <a:solidFill>
              <a:srgbClr val="34D399"/>
            </a:solidFill>
            <a:prstDash val="solid"/>
          </a:ln>
        </p:spPr>
      </p:sp>
      <p:sp>
        <p:nvSpPr>
          <p:cNvPr id="18" name="Text 13"/>
          <p:cNvSpPr txBox="1"/>
          <p:nvPr/>
        </p:nvSpPr>
        <p:spPr>
          <a:xfrm>
            <a:off x="4736592" y="3785616"/>
            <a:ext cx="256032" cy="256032"/>
          </a:xfrm>
          <a:prstGeom prst="rect">
            <a:avLst/>
          </a:prstGeom>
          <a:noFill/>
          <a:ln/>
        </p:spPr>
        <p:txBody>
          <a:bodyPr wrap="square" lIns="0" tIns="0" rIns="0" bIns="0" rtlCol="0" anchor="ctr"/>
          <a:lstStyle/>
          <a:p>
            <a:pPr marL="0" indent="0" algn="ctr">
              <a:buNone/>
            </a:pPr>
            <a:r>
              <a:rPr lang="en-US" sz="1200" b="1" dirty="0">
                <a:solidFill>
                  <a:srgbClr val="0B1220"/>
                </a:solidFill>
                <a:latin typeface="Calibri" pitchFamily="34" charset="0"/>
                <a:ea typeface="Calibri" pitchFamily="34" charset="-122"/>
                <a:cs typeface="Calibri" pitchFamily="34" charset="-120"/>
              </a:rPr>
              <a:t>3</a:t>
            </a:r>
            <a:endParaRPr lang="en-US" sz="1200" dirty="0"/>
          </a:p>
        </p:txBody>
      </p:sp>
      <p:sp>
        <p:nvSpPr>
          <p:cNvPr id="19" name="Text 14"/>
          <p:cNvSpPr txBox="1"/>
          <p:nvPr/>
        </p:nvSpPr>
        <p:spPr>
          <a:xfrm>
            <a:off x="5074920" y="3703320"/>
            <a:ext cx="1508760" cy="420624"/>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Report it privately</a:t>
            </a:r>
            <a:endParaRPr lang="en-US" sz="1400" dirty="0"/>
          </a:p>
        </p:txBody>
      </p:sp>
      <p:sp>
        <p:nvSpPr>
          <p:cNvPr id="20" name="Shape 15"/>
          <p:cNvSpPr/>
          <p:nvPr/>
        </p:nvSpPr>
        <p:spPr>
          <a:xfrm>
            <a:off x="6766560" y="3703320"/>
            <a:ext cx="1965960" cy="420624"/>
          </a:xfrm>
          <a:prstGeom prst="roundRect">
            <a:avLst>
              <a:gd name="adj" fmla="val 17391"/>
            </a:avLst>
          </a:prstGeom>
          <a:solidFill>
            <a:srgbClr val="121C30"/>
          </a:solidFill>
          <a:ln w="12700">
            <a:solidFill>
              <a:srgbClr val="1F3150"/>
            </a:solidFill>
            <a:prstDash val="solid"/>
          </a:ln>
        </p:spPr>
      </p:sp>
      <p:sp>
        <p:nvSpPr>
          <p:cNvPr id="21" name="Shape 16"/>
          <p:cNvSpPr/>
          <p:nvPr/>
        </p:nvSpPr>
        <p:spPr>
          <a:xfrm>
            <a:off x="6839712" y="3785616"/>
            <a:ext cx="256032" cy="256032"/>
          </a:xfrm>
          <a:prstGeom prst="ellipse">
            <a:avLst/>
          </a:prstGeom>
          <a:solidFill>
            <a:srgbClr val="34D399"/>
          </a:solidFill>
          <a:ln w="12700">
            <a:solidFill>
              <a:srgbClr val="34D399"/>
            </a:solidFill>
            <a:prstDash val="solid"/>
          </a:ln>
        </p:spPr>
      </p:sp>
      <p:sp>
        <p:nvSpPr>
          <p:cNvPr id="22" name="Text 17"/>
          <p:cNvSpPr txBox="1"/>
          <p:nvPr/>
        </p:nvSpPr>
        <p:spPr>
          <a:xfrm>
            <a:off x="6839712" y="3785616"/>
            <a:ext cx="256032" cy="256032"/>
          </a:xfrm>
          <a:prstGeom prst="rect">
            <a:avLst/>
          </a:prstGeom>
          <a:noFill/>
          <a:ln/>
        </p:spPr>
        <p:txBody>
          <a:bodyPr wrap="square" lIns="0" tIns="0" rIns="0" bIns="0" rtlCol="0" anchor="ctr"/>
          <a:lstStyle/>
          <a:p>
            <a:pPr marL="0" indent="0" algn="ctr">
              <a:buNone/>
            </a:pPr>
            <a:r>
              <a:rPr lang="en-US" sz="1200" b="1" dirty="0">
                <a:solidFill>
                  <a:srgbClr val="0B1220"/>
                </a:solidFill>
                <a:latin typeface="Calibri" pitchFamily="34" charset="0"/>
                <a:ea typeface="Calibri" pitchFamily="34" charset="-122"/>
                <a:cs typeface="Calibri" pitchFamily="34" charset="-120"/>
              </a:rPr>
              <a:t>4</a:t>
            </a:r>
            <a:endParaRPr lang="en-US" sz="1200" dirty="0"/>
          </a:p>
        </p:txBody>
      </p:sp>
      <p:sp>
        <p:nvSpPr>
          <p:cNvPr id="23" name="Text 18"/>
          <p:cNvSpPr txBox="1"/>
          <p:nvPr/>
        </p:nvSpPr>
        <p:spPr>
          <a:xfrm>
            <a:off x="7178040" y="3703320"/>
            <a:ext cx="1508760" cy="420624"/>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Follow the rules</a:t>
            </a:r>
            <a:endParaRPr lang="en-US" sz="1400" dirty="0"/>
          </a:p>
        </p:txBody>
      </p:sp>
      <p:sp>
        <p:nvSpPr>
          <p:cNvPr id="24" name="Shape 19"/>
          <p:cNvSpPr/>
          <p:nvPr/>
        </p:nvSpPr>
        <p:spPr>
          <a:xfrm>
            <a:off x="457200" y="4178808"/>
            <a:ext cx="1965960" cy="420624"/>
          </a:xfrm>
          <a:prstGeom prst="roundRect">
            <a:avLst>
              <a:gd name="adj" fmla="val 17391"/>
            </a:avLst>
          </a:prstGeom>
          <a:solidFill>
            <a:srgbClr val="121C30"/>
          </a:solidFill>
          <a:ln w="12700">
            <a:solidFill>
              <a:srgbClr val="1F3150"/>
            </a:solidFill>
            <a:prstDash val="solid"/>
          </a:ln>
        </p:spPr>
      </p:sp>
      <p:sp>
        <p:nvSpPr>
          <p:cNvPr id="25" name="Shape 20"/>
          <p:cNvSpPr/>
          <p:nvPr/>
        </p:nvSpPr>
        <p:spPr>
          <a:xfrm>
            <a:off x="530352" y="4261104"/>
            <a:ext cx="256032" cy="256032"/>
          </a:xfrm>
          <a:prstGeom prst="ellipse">
            <a:avLst/>
          </a:prstGeom>
          <a:solidFill>
            <a:srgbClr val="34D399"/>
          </a:solidFill>
          <a:ln w="12700">
            <a:solidFill>
              <a:srgbClr val="34D399"/>
            </a:solidFill>
            <a:prstDash val="solid"/>
          </a:ln>
        </p:spPr>
      </p:sp>
      <p:sp>
        <p:nvSpPr>
          <p:cNvPr id="26" name="Text 21"/>
          <p:cNvSpPr txBox="1"/>
          <p:nvPr/>
        </p:nvSpPr>
        <p:spPr>
          <a:xfrm>
            <a:off x="530352" y="4261104"/>
            <a:ext cx="256032" cy="256032"/>
          </a:xfrm>
          <a:prstGeom prst="rect">
            <a:avLst/>
          </a:prstGeom>
          <a:noFill/>
          <a:ln/>
        </p:spPr>
        <p:txBody>
          <a:bodyPr wrap="square" lIns="0" tIns="0" rIns="0" bIns="0" rtlCol="0" anchor="ctr"/>
          <a:lstStyle/>
          <a:p>
            <a:pPr marL="0" indent="0" algn="ctr">
              <a:buNone/>
            </a:pPr>
            <a:r>
              <a:rPr lang="en-US" sz="1200" b="1" dirty="0">
                <a:solidFill>
                  <a:srgbClr val="0B1220"/>
                </a:solidFill>
                <a:latin typeface="Calibri" pitchFamily="34" charset="0"/>
                <a:ea typeface="Calibri" pitchFamily="34" charset="-122"/>
                <a:cs typeface="Calibri" pitchFamily="34" charset="-120"/>
              </a:rPr>
              <a:t>5</a:t>
            </a:r>
            <a:endParaRPr lang="en-US" sz="1200" dirty="0"/>
          </a:p>
        </p:txBody>
      </p:sp>
      <p:sp>
        <p:nvSpPr>
          <p:cNvPr id="27" name="Text 22"/>
          <p:cNvSpPr txBox="1"/>
          <p:nvPr/>
        </p:nvSpPr>
        <p:spPr>
          <a:xfrm>
            <a:off x="868680" y="4178808"/>
            <a:ext cx="1508760" cy="420624"/>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Communicate</a:t>
            </a:r>
            <a:endParaRPr lang="en-US" sz="1400" dirty="0"/>
          </a:p>
        </p:txBody>
      </p:sp>
      <p:sp>
        <p:nvSpPr>
          <p:cNvPr id="28" name="Shape 23"/>
          <p:cNvSpPr/>
          <p:nvPr/>
        </p:nvSpPr>
        <p:spPr>
          <a:xfrm>
            <a:off x="2560320" y="4178808"/>
            <a:ext cx="1965960" cy="420624"/>
          </a:xfrm>
          <a:prstGeom prst="roundRect">
            <a:avLst>
              <a:gd name="adj" fmla="val 17391"/>
            </a:avLst>
          </a:prstGeom>
          <a:solidFill>
            <a:srgbClr val="121C30"/>
          </a:solidFill>
          <a:ln w="12700">
            <a:solidFill>
              <a:srgbClr val="1F3150"/>
            </a:solidFill>
            <a:prstDash val="solid"/>
          </a:ln>
        </p:spPr>
      </p:sp>
      <p:sp>
        <p:nvSpPr>
          <p:cNvPr id="29" name="Shape 24"/>
          <p:cNvSpPr/>
          <p:nvPr/>
        </p:nvSpPr>
        <p:spPr>
          <a:xfrm>
            <a:off x="2633472" y="4261104"/>
            <a:ext cx="256032" cy="256032"/>
          </a:xfrm>
          <a:prstGeom prst="ellipse">
            <a:avLst/>
          </a:prstGeom>
          <a:solidFill>
            <a:srgbClr val="34D399"/>
          </a:solidFill>
          <a:ln w="12700">
            <a:solidFill>
              <a:srgbClr val="34D399"/>
            </a:solidFill>
            <a:prstDash val="solid"/>
          </a:ln>
        </p:spPr>
      </p:sp>
      <p:sp>
        <p:nvSpPr>
          <p:cNvPr id="30" name="Text 25"/>
          <p:cNvSpPr txBox="1"/>
          <p:nvPr/>
        </p:nvSpPr>
        <p:spPr>
          <a:xfrm>
            <a:off x="2633472" y="4261104"/>
            <a:ext cx="256032" cy="256032"/>
          </a:xfrm>
          <a:prstGeom prst="rect">
            <a:avLst/>
          </a:prstGeom>
          <a:noFill/>
          <a:ln/>
        </p:spPr>
        <p:txBody>
          <a:bodyPr wrap="square" lIns="0" tIns="0" rIns="0" bIns="0" rtlCol="0" anchor="ctr"/>
          <a:lstStyle/>
          <a:p>
            <a:pPr marL="0" indent="0" algn="ctr">
              <a:buNone/>
            </a:pPr>
            <a:r>
              <a:rPr lang="en-US" sz="1200" b="1" dirty="0">
                <a:solidFill>
                  <a:srgbClr val="0B1220"/>
                </a:solidFill>
                <a:latin typeface="Calibri" pitchFamily="34" charset="0"/>
                <a:ea typeface="Calibri" pitchFamily="34" charset="-122"/>
                <a:cs typeface="Calibri" pitchFamily="34" charset="-120"/>
              </a:rPr>
              <a:t>6</a:t>
            </a:r>
            <a:endParaRPr lang="en-US" sz="1200" dirty="0"/>
          </a:p>
        </p:txBody>
      </p:sp>
      <p:sp>
        <p:nvSpPr>
          <p:cNvPr id="31" name="Text 26"/>
          <p:cNvSpPr txBox="1"/>
          <p:nvPr/>
        </p:nvSpPr>
        <p:spPr>
          <a:xfrm>
            <a:off x="2971800" y="4178808"/>
            <a:ext cx="1508760" cy="420624"/>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Allow time to fix</a:t>
            </a:r>
            <a:endParaRPr lang="en-US" sz="1400" dirty="0"/>
          </a:p>
        </p:txBody>
      </p:sp>
      <p:sp>
        <p:nvSpPr>
          <p:cNvPr id="32" name="Shape 27"/>
          <p:cNvSpPr/>
          <p:nvPr/>
        </p:nvSpPr>
        <p:spPr>
          <a:xfrm>
            <a:off x="4663440" y="4178808"/>
            <a:ext cx="1965960" cy="420624"/>
          </a:xfrm>
          <a:prstGeom prst="roundRect">
            <a:avLst>
              <a:gd name="adj" fmla="val 17391"/>
            </a:avLst>
          </a:prstGeom>
          <a:solidFill>
            <a:srgbClr val="121C30"/>
          </a:solidFill>
          <a:ln w="12700">
            <a:solidFill>
              <a:srgbClr val="1F3150"/>
            </a:solidFill>
            <a:prstDash val="solid"/>
          </a:ln>
        </p:spPr>
      </p:sp>
      <p:sp>
        <p:nvSpPr>
          <p:cNvPr id="33" name="Shape 28"/>
          <p:cNvSpPr/>
          <p:nvPr/>
        </p:nvSpPr>
        <p:spPr>
          <a:xfrm>
            <a:off x="4736592" y="4261104"/>
            <a:ext cx="256032" cy="256032"/>
          </a:xfrm>
          <a:prstGeom prst="ellipse">
            <a:avLst/>
          </a:prstGeom>
          <a:solidFill>
            <a:srgbClr val="34D399"/>
          </a:solidFill>
          <a:ln w="12700">
            <a:solidFill>
              <a:srgbClr val="34D399"/>
            </a:solidFill>
            <a:prstDash val="solid"/>
          </a:ln>
        </p:spPr>
      </p:sp>
      <p:sp>
        <p:nvSpPr>
          <p:cNvPr id="34" name="Text 29"/>
          <p:cNvSpPr txBox="1"/>
          <p:nvPr/>
        </p:nvSpPr>
        <p:spPr>
          <a:xfrm>
            <a:off x="4736592" y="4261104"/>
            <a:ext cx="256032" cy="256032"/>
          </a:xfrm>
          <a:prstGeom prst="rect">
            <a:avLst/>
          </a:prstGeom>
          <a:noFill/>
          <a:ln/>
        </p:spPr>
        <p:txBody>
          <a:bodyPr wrap="square" lIns="0" tIns="0" rIns="0" bIns="0" rtlCol="0" anchor="ctr"/>
          <a:lstStyle/>
          <a:p>
            <a:pPr marL="0" indent="0" algn="ctr">
              <a:buNone/>
            </a:pPr>
            <a:r>
              <a:rPr lang="en-US" sz="1200" b="1" dirty="0">
                <a:solidFill>
                  <a:srgbClr val="0B1220"/>
                </a:solidFill>
                <a:latin typeface="Calibri" pitchFamily="34" charset="0"/>
                <a:ea typeface="Calibri" pitchFamily="34" charset="-122"/>
                <a:cs typeface="Calibri" pitchFamily="34" charset="-120"/>
              </a:rPr>
              <a:t>7</a:t>
            </a:r>
            <a:endParaRPr lang="en-US" sz="1200" dirty="0"/>
          </a:p>
        </p:txBody>
      </p:sp>
      <p:sp>
        <p:nvSpPr>
          <p:cNvPr id="35" name="Text 30"/>
          <p:cNvSpPr txBox="1"/>
          <p:nvPr/>
        </p:nvSpPr>
        <p:spPr>
          <a:xfrm>
            <a:off x="5074920" y="4178808"/>
            <a:ext cx="1508760" cy="420624"/>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Coordinate release</a:t>
            </a:r>
            <a:endParaRPr lang="en-US" sz="1400" dirty="0"/>
          </a:p>
        </p:txBody>
      </p:sp>
      <p:sp>
        <p:nvSpPr>
          <p:cNvPr id="36" name="Shape 31"/>
          <p:cNvSpPr/>
          <p:nvPr/>
        </p:nvSpPr>
        <p:spPr>
          <a:xfrm>
            <a:off x="6766560" y="4178808"/>
            <a:ext cx="1965960" cy="420624"/>
          </a:xfrm>
          <a:prstGeom prst="roundRect">
            <a:avLst>
              <a:gd name="adj" fmla="val 17391"/>
            </a:avLst>
          </a:prstGeom>
          <a:solidFill>
            <a:srgbClr val="121C30"/>
          </a:solidFill>
          <a:ln w="12700">
            <a:solidFill>
              <a:srgbClr val="34D399"/>
            </a:solidFill>
            <a:prstDash val="solid"/>
          </a:ln>
        </p:spPr>
      </p:sp>
      <p:sp>
        <p:nvSpPr>
          <p:cNvPr id="37" name="Shape 32"/>
          <p:cNvSpPr/>
          <p:nvPr/>
        </p:nvSpPr>
        <p:spPr>
          <a:xfrm>
            <a:off x="6839712" y="4261104"/>
            <a:ext cx="256032" cy="256032"/>
          </a:xfrm>
          <a:prstGeom prst="ellipse">
            <a:avLst/>
          </a:prstGeom>
          <a:solidFill>
            <a:srgbClr val="34D399"/>
          </a:solidFill>
          <a:ln w="12700">
            <a:solidFill>
              <a:srgbClr val="34D399"/>
            </a:solidFill>
            <a:prstDash val="solid"/>
          </a:ln>
        </p:spPr>
      </p:sp>
      <p:sp>
        <p:nvSpPr>
          <p:cNvPr id="38" name="Text 33"/>
          <p:cNvSpPr txBox="1"/>
          <p:nvPr/>
        </p:nvSpPr>
        <p:spPr>
          <a:xfrm>
            <a:off x="6839712" y="4261104"/>
            <a:ext cx="256032" cy="256032"/>
          </a:xfrm>
          <a:prstGeom prst="rect">
            <a:avLst/>
          </a:prstGeom>
          <a:noFill/>
          <a:ln/>
        </p:spPr>
        <p:txBody>
          <a:bodyPr wrap="square" lIns="0" tIns="0" rIns="0" bIns="0" rtlCol="0" anchor="ctr"/>
          <a:lstStyle/>
          <a:p>
            <a:pPr marL="0" indent="0" algn="ctr">
              <a:buNone/>
            </a:pPr>
            <a:r>
              <a:rPr lang="en-US" sz="1200" b="1" dirty="0">
                <a:solidFill>
                  <a:srgbClr val="0B1220"/>
                </a:solidFill>
                <a:latin typeface="Calibri" pitchFamily="34" charset="0"/>
                <a:ea typeface="Calibri" pitchFamily="34" charset="-122"/>
                <a:cs typeface="Calibri" pitchFamily="34" charset="-120"/>
              </a:rPr>
              <a:t>8</a:t>
            </a:r>
            <a:endParaRPr lang="en-US" sz="1200" dirty="0"/>
          </a:p>
        </p:txBody>
      </p:sp>
      <p:sp>
        <p:nvSpPr>
          <p:cNvPr id="39" name="Text 34"/>
          <p:cNvSpPr txBox="1"/>
          <p:nvPr/>
        </p:nvSpPr>
        <p:spPr>
          <a:xfrm>
            <a:off x="7178040" y="4178808"/>
            <a:ext cx="1508760" cy="420624"/>
          </a:xfrm>
          <a:prstGeom prst="rect">
            <a:avLst/>
          </a:prstGeom>
          <a:noFill/>
          <a:ln/>
        </p:spPr>
        <p:txBody>
          <a:bodyPr wrap="square" lIns="0" tIns="0" rIns="0" bIns="0" rtlCol="0" anchor="ctr"/>
          <a:lstStyle/>
          <a:p>
            <a:pPr marL="0" indent="0">
              <a:buNone/>
            </a:pPr>
            <a:r>
              <a:rPr lang="en-US" sz="1400" dirty="0">
                <a:solidFill>
                  <a:srgbClr val="E6EDF7"/>
                </a:solidFill>
                <a:latin typeface="Calibri" pitchFamily="34" charset="0"/>
                <a:ea typeface="Calibri" pitchFamily="34" charset="-122"/>
                <a:cs typeface="Calibri" pitchFamily="34" charset="-120"/>
              </a:rPr>
              <a:t>Get credit or reward</a:t>
            </a:r>
            <a:endParaRPr lang="en-US" sz="1400" dirty="0"/>
          </a:p>
        </p:txBody>
      </p:sp>
      <p:sp>
        <p:nvSpPr>
          <p:cNvPr id="6"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0F2A3A"/>
          </a:solidFill>
          <a:ln w="12700">
            <a:solidFill>
              <a:srgbClr val="22D3EE"/>
            </a:solidFill>
            <a:prstDash val="solid"/>
          </a:ln>
        </p:spPr>
      </p:sp>
      <p:pic>
        <p:nvPicPr>
          <p:cNvPr id="3" name="Image 0" descr="preencoded.png"/>
          <p:cNvPicPr>
            <a:picLocks noChangeAspect="1"/>
          </p:cNvPicPr>
          <p:nvPr/>
        </p:nvPicPr>
        <p:blipFill>
          <a:blip r:embed="rId3"/>
          <a:stretch>
            <a:fillRect/>
          </a:stretch>
        </p:blipFill>
        <p:spPr>
          <a:xfrm>
            <a:off x="588874" y="451714"/>
            <a:ext cx="285293" cy="285293"/>
          </a:xfrm>
          <a:prstGeom prst="rect">
            <a:avLst/>
          </a:prstGeom>
        </p:spPr>
      </p:pic>
      <p:sp>
        <p:nvSpPr>
          <p:cNvPr id="4" name="Text 1"/>
          <p:cNvSpPr txBox="1"/>
          <p:nvPr/>
        </p:nvSpPr>
        <p:spPr>
          <a:xfrm>
            <a:off x="1188720" y="320040"/>
            <a:ext cx="749808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6" name="Shape 2"/>
          <p:cNvSpPr/>
          <p:nvPr/>
        </p:nvSpPr>
        <p:spPr>
          <a:xfrm>
            <a:off x="457200" y="1097280"/>
            <a:ext cx="8229600" cy="420624"/>
          </a:xfrm>
          <a:prstGeom prst="roundRect">
            <a:avLst>
              <a:gd name="adj" fmla="val 17391"/>
            </a:avLst>
          </a:prstGeom>
          <a:solidFill>
            <a:srgbClr val="121C30"/>
          </a:solidFill>
          <a:ln w="12700">
            <a:solidFill>
              <a:srgbClr val="1F3150"/>
            </a:solidFill>
            <a:prstDash val="solid"/>
          </a:ln>
        </p:spPr>
      </p:sp>
      <p:sp>
        <p:nvSpPr>
          <p:cNvPr id="7" name="Shape 3"/>
          <p:cNvSpPr/>
          <p:nvPr/>
        </p:nvSpPr>
        <p:spPr>
          <a:xfrm>
            <a:off x="548640" y="1161288"/>
            <a:ext cx="292608" cy="292608"/>
          </a:xfrm>
          <a:prstGeom prst="ellipse">
            <a:avLst/>
          </a:prstGeom>
          <a:solidFill>
            <a:srgbClr val="34D399"/>
          </a:solidFill>
          <a:ln w="12700">
            <a:solidFill>
              <a:srgbClr val="34D399"/>
            </a:solidFill>
            <a:prstDash val="solid"/>
          </a:ln>
        </p:spPr>
      </p:sp>
      <p:pic>
        <p:nvPicPr>
          <p:cNvPr id="8" name="Image 1" descr="preencoded.png"/>
          <p:cNvPicPr>
            <a:picLocks noChangeAspect="1"/>
          </p:cNvPicPr>
          <p:nvPr/>
        </p:nvPicPr>
        <p:blipFill>
          <a:blip r:embed="rId4"/>
          <a:stretch>
            <a:fillRect/>
          </a:stretch>
        </p:blipFill>
        <p:spPr>
          <a:xfrm>
            <a:off x="618866" y="1231514"/>
            <a:ext cx="152156" cy="152156"/>
          </a:xfrm>
          <a:prstGeom prst="rect">
            <a:avLst/>
          </a:prstGeom>
        </p:spPr>
      </p:pic>
      <p:sp>
        <p:nvSpPr>
          <p:cNvPr id="9" name="Text 4"/>
          <p:cNvSpPr txBox="1"/>
          <p:nvPr/>
        </p:nvSpPr>
        <p:spPr>
          <a:xfrm>
            <a:off x="1005840" y="1097280"/>
            <a:ext cx="7589520" cy="420624"/>
          </a:xfrm>
          <a:prstGeom prst="rect">
            <a:avLst/>
          </a:prstGeom>
          <a:noFill/>
          <a:ln/>
        </p:spPr>
        <p:txBody>
          <a:bodyPr wrap="square" lIns="0" tIns="0" rIns="0" bIns="0" rtlCol="0" anchor="ctr"/>
          <a:lstStyle/>
          <a:p>
            <a:pPr marL="0" indent="0">
              <a:buNone/>
            </a:pPr>
            <a:r>
              <a:rPr lang="en-US" sz="1400" b="1" dirty="0">
                <a:solidFill>
                  <a:srgbClr val="34D399"/>
                </a:solidFill>
                <a:latin typeface="Calibri" pitchFamily="34" charset="0"/>
                <a:ea typeface="Calibri" pitchFamily="34" charset="-122"/>
                <a:cs typeface="Calibri" pitchFamily="34" charset="-120"/>
              </a:rPr>
              <a:t>Legitimate research. </a:t>
            </a:r>
            <a:r>
              <a:rPr lang="en-US" sz="1400" dirty="0">
                <a:solidFill>
                  <a:srgbClr val="E6EDF7"/>
                </a:solidFill>
                <a:latin typeface="Calibri" pitchFamily="34" charset="0"/>
                <a:ea typeface="Calibri" pitchFamily="34" charset="-122"/>
                <a:cs typeface="Calibri" pitchFamily="34" charset="-120"/>
              </a:rPr>
              <a:t>Finding a flaw is valuable when it helps make systems safer.</a:t>
            </a:r>
            <a:endParaRPr lang="en-US" sz="1400" dirty="0"/>
          </a:p>
        </p:txBody>
      </p:sp>
      <p:sp>
        <p:nvSpPr>
          <p:cNvPr id="10" name="Shape 5"/>
          <p:cNvSpPr/>
          <p:nvPr/>
        </p:nvSpPr>
        <p:spPr>
          <a:xfrm>
            <a:off x="457200" y="1554480"/>
            <a:ext cx="8229600" cy="420624"/>
          </a:xfrm>
          <a:prstGeom prst="roundRect">
            <a:avLst>
              <a:gd name="adj" fmla="val 17391"/>
            </a:avLst>
          </a:prstGeom>
          <a:solidFill>
            <a:srgbClr val="121C30"/>
          </a:solidFill>
          <a:ln w="12700">
            <a:solidFill>
              <a:srgbClr val="1F3150"/>
            </a:solidFill>
            <a:prstDash val="solid"/>
          </a:ln>
        </p:spPr>
      </p:sp>
      <p:sp>
        <p:nvSpPr>
          <p:cNvPr id="11" name="Shape 6"/>
          <p:cNvSpPr/>
          <p:nvPr/>
        </p:nvSpPr>
        <p:spPr>
          <a:xfrm>
            <a:off x="548640" y="1618488"/>
            <a:ext cx="292608" cy="292608"/>
          </a:xfrm>
          <a:prstGeom prst="ellipse">
            <a:avLst/>
          </a:prstGeom>
          <a:solidFill>
            <a:srgbClr val="34D399"/>
          </a:solidFill>
          <a:ln w="12700">
            <a:solidFill>
              <a:srgbClr val="34D399"/>
            </a:solidFill>
            <a:prstDash val="solid"/>
          </a:ln>
        </p:spPr>
      </p:sp>
      <p:pic>
        <p:nvPicPr>
          <p:cNvPr id="12" name="Image 2" descr="preencoded.png"/>
          <p:cNvPicPr>
            <a:picLocks noChangeAspect="1"/>
          </p:cNvPicPr>
          <p:nvPr/>
        </p:nvPicPr>
        <p:blipFill>
          <a:blip r:embed="rId4"/>
          <a:stretch>
            <a:fillRect/>
          </a:stretch>
        </p:blipFill>
        <p:spPr>
          <a:xfrm>
            <a:off x="618866" y="1688714"/>
            <a:ext cx="152156" cy="152156"/>
          </a:xfrm>
          <a:prstGeom prst="rect">
            <a:avLst/>
          </a:prstGeom>
        </p:spPr>
      </p:pic>
      <p:sp>
        <p:nvSpPr>
          <p:cNvPr id="13" name="Text 7"/>
          <p:cNvSpPr txBox="1"/>
          <p:nvPr/>
        </p:nvSpPr>
        <p:spPr>
          <a:xfrm>
            <a:off x="1005840" y="1554480"/>
            <a:ext cx="7589520" cy="420624"/>
          </a:xfrm>
          <a:prstGeom prst="rect">
            <a:avLst/>
          </a:prstGeom>
          <a:noFill/>
          <a:ln/>
        </p:spPr>
        <p:txBody>
          <a:bodyPr wrap="square" lIns="0" tIns="0" rIns="0" bIns="0" rtlCol="0" anchor="ctr"/>
          <a:lstStyle/>
          <a:p>
            <a:pPr marL="0" indent="0">
              <a:buNone/>
            </a:pPr>
            <a:r>
              <a:rPr lang="en-US" sz="1400" b="1" dirty="0">
                <a:solidFill>
                  <a:srgbClr val="34D399"/>
                </a:solidFill>
                <a:latin typeface="Calibri" pitchFamily="34" charset="0"/>
                <a:ea typeface="Calibri" pitchFamily="34" charset="-122"/>
                <a:cs typeface="Calibri" pitchFamily="34" charset="-120"/>
              </a:rPr>
              <a:t>Responsible disclosure. </a:t>
            </a:r>
            <a:r>
              <a:rPr lang="en-US" sz="1400" dirty="0">
                <a:solidFill>
                  <a:srgbClr val="E6EDF7"/>
                </a:solidFill>
                <a:latin typeface="Calibri" pitchFamily="34" charset="0"/>
                <a:ea typeface="Calibri" pitchFamily="34" charset="-122"/>
                <a:cs typeface="Calibri" pitchFamily="34" charset="-120"/>
              </a:rPr>
              <a:t>Private reporting and time to fix are the core of ethical practice.</a:t>
            </a:r>
            <a:endParaRPr lang="en-US" sz="1400" dirty="0"/>
          </a:p>
        </p:txBody>
      </p:sp>
      <p:sp>
        <p:nvSpPr>
          <p:cNvPr id="14" name="Shape 8"/>
          <p:cNvSpPr/>
          <p:nvPr/>
        </p:nvSpPr>
        <p:spPr>
          <a:xfrm>
            <a:off x="457200" y="2011680"/>
            <a:ext cx="8229600" cy="420624"/>
          </a:xfrm>
          <a:prstGeom prst="roundRect">
            <a:avLst>
              <a:gd name="adj" fmla="val 17391"/>
            </a:avLst>
          </a:prstGeom>
          <a:solidFill>
            <a:srgbClr val="121C30"/>
          </a:solidFill>
          <a:ln w="12700">
            <a:solidFill>
              <a:srgbClr val="1F3150"/>
            </a:solidFill>
            <a:prstDash val="solid"/>
          </a:ln>
        </p:spPr>
      </p:sp>
      <p:sp>
        <p:nvSpPr>
          <p:cNvPr id="15" name="Shape 9"/>
          <p:cNvSpPr/>
          <p:nvPr/>
        </p:nvSpPr>
        <p:spPr>
          <a:xfrm>
            <a:off x="548640" y="2075688"/>
            <a:ext cx="292608" cy="292608"/>
          </a:xfrm>
          <a:prstGeom prst="ellipse">
            <a:avLst/>
          </a:prstGeom>
          <a:solidFill>
            <a:srgbClr val="34D399"/>
          </a:solidFill>
          <a:ln w="12700">
            <a:solidFill>
              <a:srgbClr val="34D399"/>
            </a:solidFill>
            <a:prstDash val="solid"/>
          </a:ln>
        </p:spPr>
      </p:sp>
      <p:pic>
        <p:nvPicPr>
          <p:cNvPr id="16" name="Image 3" descr="preencoded.png"/>
          <p:cNvPicPr>
            <a:picLocks noChangeAspect="1"/>
          </p:cNvPicPr>
          <p:nvPr/>
        </p:nvPicPr>
        <p:blipFill>
          <a:blip r:embed="rId4"/>
          <a:stretch>
            <a:fillRect/>
          </a:stretch>
        </p:blipFill>
        <p:spPr>
          <a:xfrm>
            <a:off x="618866" y="2145914"/>
            <a:ext cx="152156" cy="152156"/>
          </a:xfrm>
          <a:prstGeom prst="rect">
            <a:avLst/>
          </a:prstGeom>
        </p:spPr>
      </p:pic>
      <p:sp>
        <p:nvSpPr>
          <p:cNvPr id="17" name="Text 10"/>
          <p:cNvSpPr txBox="1"/>
          <p:nvPr/>
        </p:nvSpPr>
        <p:spPr>
          <a:xfrm>
            <a:off x="1005840" y="2011680"/>
            <a:ext cx="7589520" cy="420624"/>
          </a:xfrm>
          <a:prstGeom prst="rect">
            <a:avLst/>
          </a:prstGeom>
          <a:noFill/>
          <a:ln/>
        </p:spPr>
        <p:txBody>
          <a:bodyPr wrap="square" lIns="0" tIns="0" rIns="0" bIns="0" rtlCol="0" anchor="ctr"/>
          <a:lstStyle/>
          <a:p>
            <a:pPr marL="0" indent="0">
              <a:buNone/>
            </a:pPr>
            <a:r>
              <a:rPr lang="en-US" sz="1400" b="1" dirty="0">
                <a:solidFill>
                  <a:srgbClr val="34D399"/>
                </a:solidFill>
                <a:latin typeface="Calibri" pitchFamily="34" charset="0"/>
                <a:ea typeface="Calibri" pitchFamily="34" charset="-122"/>
                <a:cs typeface="Calibri" pitchFamily="34" charset="-120"/>
              </a:rPr>
              <a:t>Public pressure is unethical. </a:t>
            </a:r>
            <a:r>
              <a:rPr lang="en-US" sz="1400" dirty="0">
                <a:solidFill>
                  <a:srgbClr val="E6EDF7"/>
                </a:solidFill>
                <a:latin typeface="Calibri" pitchFamily="34" charset="0"/>
                <a:ea typeface="Calibri" pitchFamily="34" charset="-122"/>
                <a:cs typeface="Calibri" pitchFamily="34" charset="-120"/>
              </a:rPr>
              <a:t>Exposing a critical flaw to demand payment puts users at risk.</a:t>
            </a:r>
            <a:endParaRPr lang="en-US" sz="1400" dirty="0"/>
          </a:p>
        </p:txBody>
      </p:sp>
      <p:sp>
        <p:nvSpPr>
          <p:cNvPr id="18" name="Shape 11"/>
          <p:cNvSpPr/>
          <p:nvPr/>
        </p:nvSpPr>
        <p:spPr>
          <a:xfrm>
            <a:off x="457200" y="2468880"/>
            <a:ext cx="8229600" cy="420624"/>
          </a:xfrm>
          <a:prstGeom prst="roundRect">
            <a:avLst>
              <a:gd name="adj" fmla="val 17391"/>
            </a:avLst>
          </a:prstGeom>
          <a:solidFill>
            <a:srgbClr val="121C30"/>
          </a:solidFill>
          <a:ln w="12700">
            <a:solidFill>
              <a:srgbClr val="1F3150"/>
            </a:solidFill>
            <a:prstDash val="solid"/>
          </a:ln>
        </p:spPr>
      </p:sp>
      <p:sp>
        <p:nvSpPr>
          <p:cNvPr id="19" name="Shape 12"/>
          <p:cNvSpPr/>
          <p:nvPr/>
        </p:nvSpPr>
        <p:spPr>
          <a:xfrm>
            <a:off x="548640" y="2532888"/>
            <a:ext cx="292608" cy="292608"/>
          </a:xfrm>
          <a:prstGeom prst="ellipse">
            <a:avLst/>
          </a:prstGeom>
          <a:solidFill>
            <a:srgbClr val="34D399"/>
          </a:solidFill>
          <a:ln w="12700">
            <a:solidFill>
              <a:srgbClr val="34D399"/>
            </a:solidFill>
            <a:prstDash val="solid"/>
          </a:ln>
        </p:spPr>
      </p:sp>
      <p:pic>
        <p:nvPicPr>
          <p:cNvPr id="20" name="Image 4" descr="preencoded.png"/>
          <p:cNvPicPr>
            <a:picLocks noChangeAspect="1"/>
          </p:cNvPicPr>
          <p:nvPr/>
        </p:nvPicPr>
        <p:blipFill>
          <a:blip r:embed="rId4"/>
          <a:stretch>
            <a:fillRect/>
          </a:stretch>
        </p:blipFill>
        <p:spPr>
          <a:xfrm>
            <a:off x="618866" y="2603114"/>
            <a:ext cx="152156" cy="152156"/>
          </a:xfrm>
          <a:prstGeom prst="rect">
            <a:avLst/>
          </a:prstGeom>
        </p:spPr>
      </p:pic>
      <p:sp>
        <p:nvSpPr>
          <p:cNvPr id="21" name="Text 13"/>
          <p:cNvSpPr txBox="1"/>
          <p:nvPr/>
        </p:nvSpPr>
        <p:spPr>
          <a:xfrm>
            <a:off x="1005840" y="2468880"/>
            <a:ext cx="7589520" cy="420624"/>
          </a:xfrm>
          <a:prstGeom prst="rect">
            <a:avLst/>
          </a:prstGeom>
          <a:noFill/>
          <a:ln/>
        </p:spPr>
        <p:txBody>
          <a:bodyPr wrap="square" lIns="0" tIns="0" rIns="0" bIns="0" rtlCol="0" anchor="ctr"/>
          <a:lstStyle/>
          <a:p>
            <a:pPr marL="0" indent="0">
              <a:buNone/>
            </a:pPr>
            <a:r>
              <a:rPr lang="en-US" sz="1400" b="1" dirty="0">
                <a:solidFill>
                  <a:srgbClr val="34D399"/>
                </a:solidFill>
                <a:latin typeface="Calibri" pitchFamily="34" charset="0"/>
                <a:ea typeface="Calibri" pitchFamily="34" charset="-122"/>
                <a:cs typeface="Calibri" pitchFamily="34" charset="-120"/>
              </a:rPr>
              <a:t>Use proper channels. </a:t>
            </a:r>
            <a:r>
              <a:rPr lang="en-US" sz="1400" dirty="0">
                <a:solidFill>
                  <a:srgbClr val="E6EDF7"/>
                </a:solidFill>
                <a:latin typeface="Calibri" pitchFamily="34" charset="0"/>
                <a:ea typeface="Calibri" pitchFamily="34" charset="-122"/>
                <a:cs typeface="Calibri" pitchFamily="34" charset="-120"/>
              </a:rPr>
              <a:t>Bug-bounty and disclosure policies exist to protect everyone involved.</a:t>
            </a:r>
            <a:endParaRPr lang="en-US" sz="1400" dirty="0"/>
          </a:p>
        </p:txBody>
      </p:sp>
      <p:sp>
        <p:nvSpPr>
          <p:cNvPr id="22" name="Shape 14"/>
          <p:cNvSpPr/>
          <p:nvPr/>
        </p:nvSpPr>
        <p:spPr>
          <a:xfrm>
            <a:off x="457200" y="2926080"/>
            <a:ext cx="8229600" cy="420624"/>
          </a:xfrm>
          <a:prstGeom prst="roundRect">
            <a:avLst>
              <a:gd name="adj" fmla="val 17391"/>
            </a:avLst>
          </a:prstGeom>
          <a:solidFill>
            <a:srgbClr val="121C30"/>
          </a:solidFill>
          <a:ln w="12700">
            <a:solidFill>
              <a:srgbClr val="1F3150"/>
            </a:solidFill>
            <a:prstDash val="solid"/>
          </a:ln>
        </p:spPr>
      </p:sp>
      <p:sp>
        <p:nvSpPr>
          <p:cNvPr id="23" name="Shape 15"/>
          <p:cNvSpPr/>
          <p:nvPr/>
        </p:nvSpPr>
        <p:spPr>
          <a:xfrm>
            <a:off x="548640" y="2990088"/>
            <a:ext cx="292608" cy="292608"/>
          </a:xfrm>
          <a:prstGeom prst="ellipse">
            <a:avLst/>
          </a:prstGeom>
          <a:solidFill>
            <a:srgbClr val="34D399"/>
          </a:solidFill>
          <a:ln w="12700">
            <a:solidFill>
              <a:srgbClr val="34D399"/>
            </a:solidFill>
            <a:prstDash val="solid"/>
          </a:ln>
        </p:spPr>
      </p:sp>
      <p:pic>
        <p:nvPicPr>
          <p:cNvPr id="24" name="Image 5" descr="preencoded.png"/>
          <p:cNvPicPr>
            <a:picLocks noChangeAspect="1"/>
          </p:cNvPicPr>
          <p:nvPr/>
        </p:nvPicPr>
        <p:blipFill>
          <a:blip r:embed="rId4"/>
          <a:stretch>
            <a:fillRect/>
          </a:stretch>
        </p:blipFill>
        <p:spPr>
          <a:xfrm>
            <a:off x="618866" y="3060314"/>
            <a:ext cx="152156" cy="152156"/>
          </a:xfrm>
          <a:prstGeom prst="rect">
            <a:avLst/>
          </a:prstGeom>
        </p:spPr>
      </p:pic>
      <p:sp>
        <p:nvSpPr>
          <p:cNvPr id="25" name="Text 16"/>
          <p:cNvSpPr txBox="1"/>
          <p:nvPr/>
        </p:nvSpPr>
        <p:spPr>
          <a:xfrm>
            <a:off x="1005840" y="2926080"/>
            <a:ext cx="7589520" cy="420624"/>
          </a:xfrm>
          <a:prstGeom prst="rect">
            <a:avLst/>
          </a:prstGeom>
          <a:noFill/>
          <a:ln/>
        </p:spPr>
        <p:txBody>
          <a:bodyPr wrap="square" lIns="0" tIns="0" rIns="0" bIns="0" rtlCol="0" anchor="ctr"/>
          <a:lstStyle/>
          <a:p>
            <a:pPr marL="0" indent="0">
              <a:buNone/>
            </a:pPr>
            <a:r>
              <a:rPr lang="en-US" sz="1400" b="1" dirty="0">
                <a:solidFill>
                  <a:srgbClr val="34D399"/>
                </a:solidFill>
                <a:latin typeface="Calibri" pitchFamily="34" charset="0"/>
                <a:ea typeface="Calibri" pitchFamily="34" charset="-122"/>
                <a:cs typeface="Calibri" pitchFamily="34" charset="-120"/>
              </a:rPr>
              <a:t>The goal. </a:t>
            </a:r>
            <a:r>
              <a:rPr lang="en-US" sz="1400" dirty="0">
                <a:solidFill>
                  <a:srgbClr val="E6EDF7"/>
                </a:solidFill>
                <a:latin typeface="Calibri" pitchFamily="34" charset="0"/>
                <a:ea typeface="Calibri" pitchFamily="34" charset="-122"/>
                <a:cs typeface="Calibri" pitchFamily="34" charset="-120"/>
              </a:rPr>
              <a:t>Improve security and protect users, not gain leverage.</a:t>
            </a:r>
            <a:endParaRPr lang="en-US" sz="1400" dirty="0"/>
          </a:p>
        </p:txBody>
      </p:sp>
      <p:sp>
        <p:nvSpPr>
          <p:cNvPr id="26" name="Shape 17"/>
          <p:cNvSpPr/>
          <p:nvPr/>
        </p:nvSpPr>
        <p:spPr>
          <a:xfrm>
            <a:off x="457200" y="3474720"/>
            <a:ext cx="8229600" cy="640080"/>
          </a:xfrm>
          <a:prstGeom prst="roundRect">
            <a:avLst>
              <a:gd name="adj" fmla="val 11429"/>
            </a:avLst>
          </a:prstGeom>
          <a:solidFill>
            <a:srgbClr val="0F2A3A"/>
          </a:solidFill>
          <a:ln w="12700">
            <a:solidFill>
              <a:srgbClr val="22D3EE"/>
            </a:solidFill>
            <a:prstDash val="solid"/>
          </a:ln>
        </p:spPr>
      </p:sp>
      <p:sp>
        <p:nvSpPr>
          <p:cNvPr id="27" name="Shape 18"/>
          <p:cNvSpPr/>
          <p:nvPr/>
        </p:nvSpPr>
        <p:spPr>
          <a:xfrm>
            <a:off x="640080" y="3593592"/>
            <a:ext cx="411480" cy="411480"/>
          </a:xfrm>
          <a:prstGeom prst="ellipse">
            <a:avLst/>
          </a:prstGeom>
          <a:solidFill>
            <a:srgbClr val="121C30"/>
          </a:solidFill>
          <a:ln w="12700">
            <a:solidFill>
              <a:srgbClr val="22D3EE"/>
            </a:solidFill>
            <a:prstDash val="solid"/>
          </a:ln>
        </p:spPr>
      </p:sp>
      <p:pic>
        <p:nvPicPr>
          <p:cNvPr id="28" name="Image 6" descr="preencoded.png"/>
          <p:cNvPicPr>
            <a:picLocks noChangeAspect="1"/>
          </p:cNvPicPr>
          <p:nvPr/>
        </p:nvPicPr>
        <p:blipFill>
          <a:blip r:embed="rId5"/>
          <a:stretch>
            <a:fillRect/>
          </a:stretch>
        </p:blipFill>
        <p:spPr>
          <a:xfrm>
            <a:off x="738835" y="3692347"/>
            <a:ext cx="213970" cy="213970"/>
          </a:xfrm>
          <a:prstGeom prst="rect">
            <a:avLst/>
          </a:prstGeom>
        </p:spPr>
      </p:pic>
      <p:sp>
        <p:nvSpPr>
          <p:cNvPr id="29" name="Text 19"/>
          <p:cNvSpPr txBox="1"/>
          <p:nvPr/>
        </p:nvSpPr>
        <p:spPr>
          <a:xfrm>
            <a:off x="1234440" y="3474720"/>
            <a:ext cx="7315200" cy="640080"/>
          </a:xfrm>
          <a:prstGeom prst="rect">
            <a:avLst/>
          </a:prstGeom>
          <a:noFill/>
          <a:ln/>
        </p:spPr>
        <p:txBody>
          <a:bodyPr wrap="square" lIns="0" tIns="0" rIns="0" bIns="0" rtlCol="0" anchor="ctr"/>
          <a:lstStyle/>
          <a:p>
            <a:pPr marL="0" indent="0">
              <a:buNone/>
            </a:pPr>
            <a:r>
              <a:rPr lang="en-US" sz="1500" b="1" i="1" dirty="0">
                <a:solidFill>
                  <a:srgbClr val="22D3EE"/>
                </a:solidFill>
                <a:latin typeface="Calibri" pitchFamily="34" charset="0"/>
                <a:ea typeface="Calibri" pitchFamily="34" charset="-122"/>
                <a:cs typeface="Calibri" pitchFamily="34" charset="-120"/>
              </a:rPr>
              <a:t>Finding a vulnerability is only the first step. How responsibly it is reported determines the ethical quality of the security research.</a:t>
            </a:r>
            <a:endParaRPr lang="en-US" sz="1500" dirty="0"/>
          </a:p>
        </p:txBody>
      </p:sp>
      <p:sp>
        <p:nvSpPr>
          <p:cNvPr id="30" name="Shape 20"/>
          <p:cNvSpPr/>
          <p:nvPr/>
        </p:nvSpPr>
        <p:spPr>
          <a:xfrm>
            <a:off x="2743200" y="4206240"/>
            <a:ext cx="365760" cy="365760"/>
          </a:xfrm>
          <a:prstGeom prst="ellipse">
            <a:avLst/>
          </a:prstGeom>
          <a:solidFill>
            <a:srgbClr val="0F2A3A"/>
          </a:solidFill>
          <a:ln w="12700">
            <a:solidFill>
              <a:srgbClr val="22D3EE"/>
            </a:solidFill>
            <a:prstDash val="solid"/>
          </a:ln>
        </p:spPr>
      </p:sp>
      <p:pic>
        <p:nvPicPr>
          <p:cNvPr id="31" name="Image 7" descr="preencoded.png"/>
          <p:cNvPicPr>
            <a:picLocks noChangeAspect="1"/>
          </p:cNvPicPr>
          <p:nvPr/>
        </p:nvPicPr>
        <p:blipFill>
          <a:blip r:embed="rId6"/>
          <a:stretch>
            <a:fillRect/>
          </a:stretch>
        </p:blipFill>
        <p:spPr>
          <a:xfrm>
            <a:off x="2830982" y="4294022"/>
            <a:ext cx="190195" cy="190195"/>
          </a:xfrm>
          <a:prstGeom prst="rect">
            <a:avLst/>
          </a:prstGeom>
        </p:spPr>
      </p:pic>
      <p:sp>
        <p:nvSpPr>
          <p:cNvPr id="32" name="Text 21"/>
          <p:cNvSpPr txBox="1"/>
          <p:nvPr/>
        </p:nvSpPr>
        <p:spPr>
          <a:xfrm>
            <a:off x="3246120" y="4160520"/>
            <a:ext cx="457200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THANK YOU</a:t>
            </a:r>
            <a:r>
              <a:rPr lang="en-US" sz="2200" dirty="0">
                <a:solidFill>
                  <a:srgbClr val="22D3EE"/>
                </a:solidFill>
                <a:latin typeface="Calibri" pitchFamily="34" charset="0"/>
                <a:ea typeface="Calibri" pitchFamily="34" charset="-122"/>
                <a:cs typeface="Calibri" pitchFamily="34" charset="-120"/>
              </a:rPr>
              <a:t>   |   Questions?</a:t>
            </a:r>
            <a:endParaRPr lang="en-US" sz="2200" dirty="0"/>
          </a:p>
        </p:txBody>
      </p:sp>
      <p:sp>
        <p:nvSpPr>
          <p:cNvPr id="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1759</Words>
  <Application>Microsoft Office PowerPoint</Application>
  <PresentationFormat>On-screen Show (16:9)</PresentationFormat>
  <Paragraphs>166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Ethics: Irresponsible Vulnerability Disclosure</dc:title>
  <dc:subject>PptxGenJS Presentation</dc:subject>
  <dc:creator>PptxGenJS</dc:creator>
  <cp:lastModifiedBy>Karanam Reddy Vishnu Chaithanya</cp:lastModifiedBy>
  <cp:revision>2</cp:revision>
  <dcterms:created xsi:type="dcterms:W3CDTF">2026-10-05T04:28:01Z</dcterms:created>
  <dcterms:modified xsi:type="dcterms:W3CDTF">2026-10-05T04:28:46Z</dcterms:modified>
</cp:coreProperties>
</file>